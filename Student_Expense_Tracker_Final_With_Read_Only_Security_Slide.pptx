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70" r:id="rId21"/>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layout/>
      <c:overlay val="0"/>
    </c:title>
    <c:autoTitleDeleted val="0"/>
    <c:plotArea>
      <c:barChart>
        <c:barDir val="col"/>
        <c:grouping val="clustered"/>
        <c:ser>
          <c:idx val="0"/>
          <c:order val="0"/>
          <c:tx>
            <c:strRef>
              <c:f>Sheet1!$B$1</c:f>
              <c:strCache>
                <c:ptCount val="1"/>
                <c:pt idx="0">
                  <c:v>Amount</c:v>
                </c:pt>
              </c:strCache>
            </c:strRef>
          </c:tx>
          <c:cat>
            <c:strRef>
              <c:f>Sheet1!$A$2:$A$6</c:f>
              <c:strCache>
                <c:ptCount val="5"/>
                <c:pt idx="0">
                  <c:v>Food</c:v>
                </c:pt>
                <c:pt idx="1">
                  <c:v>Travel</c:v>
                </c:pt>
                <c:pt idx="2">
                  <c:v>Education</c:v>
                </c:pt>
                <c:pt idx="3">
                  <c:v>Shopping</c:v>
                </c:pt>
                <c:pt idx="4">
                  <c:v>Other</c:v>
                </c:pt>
              </c:strCache>
            </c:strRef>
          </c:cat>
          <c:val>
            <c:numRef>
              <c:f>Sheet1!$B$2:$B$6</c:f>
              <c:numCache>
                <c:formatCode>General</c:formatCode>
                <c:ptCount val="5"/>
                <c:pt idx="0">
                  <c:v>2100</c:v>
                </c:pt>
                <c:pt idx="1">
                  <c:v>1200</c:v>
                </c:pt>
                <c:pt idx="2">
                  <c:v>1000</c:v>
                </c:pt>
                <c:pt idx="3">
                  <c:v>750</c:v>
                </c:pt>
                <c:pt idx="4">
                  <c:v>1200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Student Expense Tracker</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Android app • Detect → Confirm → Analyse</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a:t>
            </a:r>
          </a:p>
        </p:txBody>
      </p:sp>
      <p:sp>
        <p:nvSpPr>
          <p:cNvPr id="6" name="TextBox 5"/>
          <p:cNvSpPr txBox="1"/>
          <p:nvPr/>
        </p:nvSpPr>
        <p:spPr>
          <a:xfrm>
            <a:off x="731520" y="1600200"/>
            <a:ext cx="4937760" cy="548640"/>
          </a:xfrm>
          <a:prstGeom prst="rect">
            <a:avLst/>
          </a:prstGeom>
          <a:noFill/>
        </p:spPr>
        <p:txBody>
          <a:bodyPr wrap="square">
            <a:spAutoFit/>
          </a:bodyPr>
          <a:lstStyle/>
          <a:p>
            <a:pPr algn="l">
              <a:defRPr sz="3100" b="1">
                <a:solidFill>
                  <a:srgbClr val="191E37"/>
                </a:solidFill>
              </a:defRPr>
            </a:pPr>
            <a:r>
              <a:t>Track. Understand. Save.</a:t>
            </a:r>
          </a:p>
        </p:txBody>
      </p:sp>
      <p:sp>
        <p:nvSpPr>
          <p:cNvPr id="7" name="TextBox 6"/>
          <p:cNvSpPr txBox="1"/>
          <p:nvPr/>
        </p:nvSpPr>
        <p:spPr>
          <a:xfrm>
            <a:off x="731520" y="2286000"/>
            <a:ext cx="4663440" cy="914400"/>
          </a:xfrm>
          <a:prstGeom prst="rect">
            <a:avLst/>
          </a:prstGeom>
          <a:noFill/>
        </p:spPr>
        <p:txBody>
          <a:bodyPr wrap="square">
            <a:spAutoFit/>
          </a:bodyPr>
          <a:lstStyle/>
          <a:p>
            <a:pPr algn="l">
              <a:defRPr sz="1700" b="0">
                <a:solidFill>
                  <a:srgbClr val="343A4E"/>
                </a:solidFill>
              </a:defRPr>
            </a:pPr>
            <a:r>
              <a:t>A student-only expense tracker that detects eligible payment notifications, suggests categories, and explains where money is going.</a:t>
            </a:r>
          </a:p>
        </p:txBody>
      </p:sp>
      <p:sp>
        <p:nvSpPr>
          <p:cNvPr id="8" name="Rounded Rectangle 7"/>
          <p:cNvSpPr/>
          <p:nvPr/>
        </p:nvSpPr>
        <p:spPr>
          <a:xfrm>
            <a:off x="731520" y="3429000"/>
            <a:ext cx="2743200" cy="502920"/>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566160"/>
            <a:ext cx="2743200" cy="164592"/>
          </a:xfrm>
          <a:prstGeom prst="rect">
            <a:avLst/>
          </a:prstGeom>
          <a:noFill/>
        </p:spPr>
        <p:txBody>
          <a:bodyPr wrap="square">
            <a:spAutoFit/>
          </a:bodyPr>
          <a:lstStyle/>
          <a:p>
            <a:pPr algn="ctr">
              <a:defRPr sz="1100" b="1">
                <a:solidFill>
                  <a:srgbClr val="FFFFFF"/>
                </a:solidFill>
              </a:defRPr>
            </a:pPr>
            <a:r>
              <a:t>ANDROID PROJECT</a:t>
            </a:r>
          </a:p>
        </p:txBody>
      </p:sp>
      <p:sp>
        <p:nvSpPr>
          <p:cNvPr id="10" name="Rounded Rectangle 9"/>
          <p:cNvSpPr/>
          <p:nvPr/>
        </p:nvSpPr>
        <p:spPr>
          <a:xfrm>
            <a:off x="6766560" y="1234440"/>
            <a:ext cx="2286000" cy="521208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0" y="1325880"/>
            <a:ext cx="2103120" cy="50292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1737360"/>
            <a:ext cx="1828800" cy="274320"/>
          </a:xfrm>
          <a:prstGeom prst="rect">
            <a:avLst/>
          </a:prstGeom>
          <a:noFill/>
        </p:spPr>
        <p:txBody>
          <a:bodyPr wrap="square">
            <a:spAutoFit/>
          </a:bodyPr>
          <a:lstStyle/>
          <a:p>
            <a:pPr algn="l">
              <a:defRPr sz="1400" b="1">
                <a:solidFill>
                  <a:srgbClr val="191E37"/>
                </a:solidFill>
              </a:defRPr>
            </a:pPr>
            <a:r>
              <a:t>Hi, Student 👋</a:t>
            </a:r>
          </a:p>
        </p:txBody>
      </p:sp>
      <p:sp>
        <p:nvSpPr>
          <p:cNvPr id="13" name="Rounded Rectangle 12"/>
          <p:cNvSpPr/>
          <p:nvPr/>
        </p:nvSpPr>
        <p:spPr>
          <a:xfrm>
            <a:off x="6995160" y="2148840"/>
            <a:ext cx="1828800" cy="914400"/>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331720"/>
            <a:ext cx="1554480" cy="164592"/>
          </a:xfrm>
          <a:prstGeom prst="rect">
            <a:avLst/>
          </a:prstGeom>
          <a:noFill/>
        </p:spPr>
        <p:txBody>
          <a:bodyPr wrap="square">
            <a:spAutoFit/>
          </a:bodyPr>
          <a:lstStyle/>
          <a:p>
            <a:pPr algn="l">
              <a:defRPr sz="800" b="0">
                <a:solidFill>
                  <a:srgbClr val="FFFFFF"/>
                </a:solidFill>
              </a:defRPr>
            </a:pPr>
            <a:r>
              <a:t>THIS MONTH</a:t>
            </a:r>
          </a:p>
        </p:txBody>
      </p:sp>
      <p:sp>
        <p:nvSpPr>
          <p:cNvPr id="15" name="TextBox 14"/>
          <p:cNvSpPr txBox="1"/>
          <p:nvPr/>
        </p:nvSpPr>
        <p:spPr>
          <a:xfrm>
            <a:off x="7132320" y="2587752"/>
            <a:ext cx="1554480" cy="274320"/>
          </a:xfrm>
          <a:prstGeom prst="rect">
            <a:avLst/>
          </a:prstGeom>
          <a:noFill/>
        </p:spPr>
        <p:txBody>
          <a:bodyPr wrap="square">
            <a:spAutoFit/>
          </a:bodyPr>
          <a:lstStyle/>
          <a:p>
            <a:pPr algn="l">
              <a:defRPr sz="2200" b="1">
                <a:solidFill>
                  <a:srgbClr val="FFFFFF"/>
                </a:solidFill>
              </a:defRPr>
            </a:pPr>
            <a:r>
              <a:t>₹6,250</a:t>
            </a:r>
          </a:p>
        </p:txBody>
      </p:sp>
      <p:sp>
        <p:nvSpPr>
          <p:cNvPr id="16" name="TextBox 15"/>
          <p:cNvSpPr txBox="1"/>
          <p:nvPr/>
        </p:nvSpPr>
        <p:spPr>
          <a:xfrm>
            <a:off x="6995160" y="3383280"/>
            <a:ext cx="1828800" cy="228600"/>
          </a:xfrm>
          <a:prstGeom prst="rect">
            <a:avLst/>
          </a:prstGeom>
          <a:noFill/>
        </p:spPr>
        <p:txBody>
          <a:bodyPr wrap="square">
            <a:spAutoFit/>
          </a:bodyPr>
          <a:lstStyle/>
          <a:p>
            <a:pPr algn="l">
              <a:defRPr sz="1100" b="1">
                <a:solidFill>
                  <a:srgbClr val="191E37"/>
                </a:solidFill>
              </a:defRPr>
            </a:pPr>
            <a:r>
              <a:t>Top Categories</a:t>
            </a:r>
          </a:p>
        </p:txBody>
      </p:sp>
      <p:sp>
        <p:nvSpPr>
          <p:cNvPr id="17" name="TextBox 16"/>
          <p:cNvSpPr txBox="1"/>
          <p:nvPr/>
        </p:nvSpPr>
        <p:spPr>
          <a:xfrm>
            <a:off x="7040880" y="3794760"/>
            <a:ext cx="1737360" cy="164592"/>
          </a:xfrm>
          <a:prstGeom prst="rect">
            <a:avLst/>
          </a:prstGeom>
          <a:noFill/>
        </p:spPr>
        <p:txBody>
          <a:bodyPr wrap="square">
            <a:spAutoFit/>
          </a:bodyPr>
          <a:lstStyle/>
          <a:p>
            <a:pPr algn="l">
              <a:defRPr sz="900" b="0">
                <a:solidFill>
                  <a:srgbClr val="343A4E"/>
                </a:solidFill>
              </a:defRPr>
            </a:pPr>
            <a:r>
              <a:t>Food</a:t>
            </a:r>
          </a:p>
        </p:txBody>
      </p:sp>
      <p:sp>
        <p:nvSpPr>
          <p:cNvPr id="18" name="TextBox 17"/>
          <p:cNvSpPr txBox="1"/>
          <p:nvPr/>
        </p:nvSpPr>
        <p:spPr>
          <a:xfrm>
            <a:off x="7040880" y="3794760"/>
            <a:ext cx="1737360" cy="164592"/>
          </a:xfrm>
          <a:prstGeom prst="rect">
            <a:avLst/>
          </a:prstGeom>
          <a:noFill/>
        </p:spPr>
        <p:txBody>
          <a:bodyPr wrap="square">
            <a:spAutoFit/>
          </a:bodyPr>
          <a:lstStyle/>
          <a:p>
            <a:pPr algn="r">
              <a:defRPr sz="900" b="1">
                <a:solidFill>
                  <a:srgbClr val="5B43BE"/>
                </a:solidFill>
              </a:defRPr>
            </a:pPr>
            <a:r>
              <a:t>₹2,100</a:t>
            </a:r>
          </a:p>
        </p:txBody>
      </p:sp>
      <p:sp>
        <p:nvSpPr>
          <p:cNvPr id="19" name="TextBox 18"/>
          <p:cNvSpPr txBox="1"/>
          <p:nvPr/>
        </p:nvSpPr>
        <p:spPr>
          <a:xfrm>
            <a:off x="7040880" y="4297680"/>
            <a:ext cx="1737360" cy="164592"/>
          </a:xfrm>
          <a:prstGeom prst="rect">
            <a:avLst/>
          </a:prstGeom>
          <a:noFill/>
        </p:spPr>
        <p:txBody>
          <a:bodyPr wrap="square">
            <a:spAutoFit/>
          </a:bodyPr>
          <a:lstStyle/>
          <a:p>
            <a:pPr algn="l">
              <a:defRPr sz="900" b="0">
                <a:solidFill>
                  <a:srgbClr val="343A4E"/>
                </a:solidFill>
              </a:defRPr>
            </a:pPr>
            <a:r>
              <a:t>Travel</a:t>
            </a:r>
          </a:p>
        </p:txBody>
      </p:sp>
      <p:sp>
        <p:nvSpPr>
          <p:cNvPr id="20" name="TextBox 19"/>
          <p:cNvSpPr txBox="1"/>
          <p:nvPr/>
        </p:nvSpPr>
        <p:spPr>
          <a:xfrm>
            <a:off x="7040880" y="4297680"/>
            <a:ext cx="1737360" cy="164592"/>
          </a:xfrm>
          <a:prstGeom prst="rect">
            <a:avLst/>
          </a:prstGeom>
          <a:noFill/>
        </p:spPr>
        <p:txBody>
          <a:bodyPr wrap="square">
            <a:spAutoFit/>
          </a:bodyPr>
          <a:lstStyle/>
          <a:p>
            <a:pPr algn="r">
              <a:defRPr sz="900" b="1">
                <a:solidFill>
                  <a:srgbClr val="5B43BE"/>
                </a:solidFill>
              </a:defRPr>
            </a:pPr>
            <a:r>
              <a:t>₹1,200</a:t>
            </a:r>
          </a:p>
        </p:txBody>
      </p:sp>
      <p:sp>
        <p:nvSpPr>
          <p:cNvPr id="21" name="TextBox 20"/>
          <p:cNvSpPr txBox="1"/>
          <p:nvPr/>
        </p:nvSpPr>
        <p:spPr>
          <a:xfrm>
            <a:off x="7040880" y="4800600"/>
            <a:ext cx="1737360" cy="164592"/>
          </a:xfrm>
          <a:prstGeom prst="rect">
            <a:avLst/>
          </a:prstGeom>
          <a:noFill/>
        </p:spPr>
        <p:txBody>
          <a:bodyPr wrap="square">
            <a:spAutoFit/>
          </a:bodyPr>
          <a:lstStyle/>
          <a:p>
            <a:pPr algn="l">
              <a:defRPr sz="900" b="0">
                <a:solidFill>
                  <a:srgbClr val="343A4E"/>
                </a:solidFill>
              </a:defRPr>
            </a:pPr>
            <a:r>
              <a:t>Education</a:t>
            </a:r>
          </a:p>
        </p:txBody>
      </p:sp>
      <p:sp>
        <p:nvSpPr>
          <p:cNvPr id="22" name="TextBox 21"/>
          <p:cNvSpPr txBox="1"/>
          <p:nvPr/>
        </p:nvSpPr>
        <p:spPr>
          <a:xfrm>
            <a:off x="7040880" y="4800600"/>
            <a:ext cx="1737360" cy="164592"/>
          </a:xfrm>
          <a:prstGeom prst="rect">
            <a:avLst/>
          </a:prstGeom>
          <a:noFill/>
        </p:spPr>
        <p:txBody>
          <a:bodyPr wrap="square">
            <a:spAutoFit/>
          </a:bodyPr>
          <a:lstStyle/>
          <a:p>
            <a:pPr algn="r">
              <a:defRPr sz="900" b="1">
                <a:solidFill>
                  <a:srgbClr val="5B43BE"/>
                </a:solidFill>
              </a:defRPr>
            </a:pPr>
            <a:r>
              <a:t>₹1,000</a:t>
            </a:r>
          </a:p>
        </p:txBody>
      </p:sp>
      <p:sp>
        <p:nvSpPr>
          <p:cNvPr id="23" name="Rounded Rectangle 22"/>
          <p:cNvSpPr/>
          <p:nvPr/>
        </p:nvSpPr>
        <p:spPr>
          <a:xfrm>
            <a:off x="9144000" y="1417320"/>
            <a:ext cx="2286000" cy="502920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440" y="1508760"/>
            <a:ext cx="2103120" cy="48463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1920240"/>
            <a:ext cx="1828800" cy="274320"/>
          </a:xfrm>
          <a:prstGeom prst="rect">
            <a:avLst/>
          </a:prstGeom>
          <a:noFill/>
        </p:spPr>
        <p:txBody>
          <a:bodyPr wrap="square">
            <a:spAutoFit/>
          </a:bodyPr>
          <a:lstStyle/>
          <a:p>
            <a:pPr algn="l">
              <a:defRPr sz="1500" b="1">
                <a:solidFill>
                  <a:srgbClr val="191E37"/>
                </a:solidFill>
              </a:defRPr>
            </a:pPr>
            <a:r>
              <a:t>Transaction Detected</a:t>
            </a:r>
          </a:p>
        </p:txBody>
      </p:sp>
      <p:sp>
        <p:nvSpPr>
          <p:cNvPr id="26" name="TextBox 25"/>
          <p:cNvSpPr txBox="1"/>
          <p:nvPr/>
        </p:nvSpPr>
        <p:spPr>
          <a:xfrm>
            <a:off x="9372600" y="2377440"/>
            <a:ext cx="1828800" cy="228600"/>
          </a:xfrm>
          <a:prstGeom prst="rect">
            <a:avLst/>
          </a:prstGeom>
          <a:noFill/>
        </p:spPr>
        <p:txBody>
          <a:bodyPr wrap="square">
            <a:spAutoFit/>
          </a:bodyPr>
          <a:lstStyle/>
          <a:p>
            <a:pPr algn="l">
              <a:defRPr sz="900" b="0">
                <a:solidFill>
                  <a:srgbClr val="6E768A"/>
                </a:solidFill>
              </a:defRPr>
            </a:pPr>
            <a:r>
              <a:t>Paid to: Unknown Person</a:t>
            </a:r>
          </a:p>
        </p:txBody>
      </p:sp>
      <p:sp>
        <p:nvSpPr>
          <p:cNvPr id="27" name="TextBox 26"/>
          <p:cNvSpPr txBox="1"/>
          <p:nvPr/>
        </p:nvSpPr>
        <p:spPr>
          <a:xfrm>
            <a:off x="9372600" y="2715768"/>
            <a:ext cx="1828800" cy="365760"/>
          </a:xfrm>
          <a:prstGeom prst="rect">
            <a:avLst/>
          </a:prstGeom>
          <a:noFill/>
        </p:spPr>
        <p:txBody>
          <a:bodyPr wrap="square">
            <a:spAutoFit/>
          </a:bodyPr>
          <a:lstStyle/>
          <a:p>
            <a:pPr algn="ctr">
              <a:defRPr sz="2400" b="1">
                <a:solidFill>
                  <a:srgbClr val="191E37"/>
                </a:solidFill>
              </a:defRPr>
            </a:pPr>
            <a:r>
              <a:t>₹20</a:t>
            </a:r>
          </a:p>
        </p:txBody>
      </p:sp>
      <p:sp>
        <p:nvSpPr>
          <p:cNvPr id="28" name="TextBox 27"/>
          <p:cNvSpPr txBox="1"/>
          <p:nvPr/>
        </p:nvSpPr>
        <p:spPr>
          <a:xfrm>
            <a:off x="9372600" y="3246120"/>
            <a:ext cx="1828800" cy="228600"/>
          </a:xfrm>
          <a:prstGeom prst="rect">
            <a:avLst/>
          </a:prstGeom>
          <a:noFill/>
        </p:spPr>
        <p:txBody>
          <a:bodyPr wrap="square">
            <a:spAutoFit/>
          </a:bodyPr>
          <a:lstStyle/>
          <a:p>
            <a:pPr algn="ctr">
              <a:defRPr sz="1000" b="1">
                <a:solidFill>
                  <a:srgbClr val="343A4E"/>
                </a:solidFill>
              </a:defRPr>
            </a:pPr>
            <a:r>
              <a:t>What is this expense for?</a:t>
            </a:r>
          </a:p>
        </p:txBody>
      </p:sp>
      <p:sp>
        <p:nvSpPr>
          <p:cNvPr id="29" name="Rounded Rectangle 28"/>
          <p:cNvSpPr/>
          <p:nvPr/>
        </p:nvSpPr>
        <p:spPr>
          <a:xfrm>
            <a:off x="9372600" y="3657600"/>
            <a:ext cx="1828800" cy="320040"/>
          </a:xfrm>
          <a:prstGeom prst="roundRect">
            <a:avLst/>
          </a:prstGeom>
          <a:solidFill>
            <a:srgbClr val="EFEBFF"/>
          </a:solidFill>
          <a:ln>
            <a:solidFill>
              <a:srgbClr val="EF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72600" y="3730752"/>
            <a:ext cx="1828800" cy="137160"/>
          </a:xfrm>
          <a:prstGeom prst="rect">
            <a:avLst/>
          </a:prstGeom>
          <a:noFill/>
        </p:spPr>
        <p:txBody>
          <a:bodyPr wrap="square">
            <a:spAutoFit/>
          </a:bodyPr>
          <a:lstStyle/>
          <a:p>
            <a:pPr algn="l">
              <a:defRPr sz="900" b="1">
                <a:solidFill>
                  <a:srgbClr val="5B43BE"/>
                </a:solidFill>
              </a:defRPr>
            </a:pPr>
            <a:r>
              <a:t>● Travel</a:t>
            </a:r>
          </a:p>
        </p:txBody>
      </p:sp>
      <p:sp>
        <p:nvSpPr>
          <p:cNvPr id="31" name="Rounded Rectangle 30"/>
          <p:cNvSpPr/>
          <p:nvPr/>
        </p:nvSpPr>
        <p:spPr>
          <a:xfrm>
            <a:off x="9372600" y="4096512"/>
            <a:ext cx="182880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4169664"/>
            <a:ext cx="1828800" cy="137160"/>
          </a:xfrm>
          <a:prstGeom prst="rect">
            <a:avLst/>
          </a:prstGeom>
          <a:noFill/>
        </p:spPr>
        <p:txBody>
          <a:bodyPr wrap="square">
            <a:spAutoFit/>
          </a:bodyPr>
          <a:lstStyle/>
          <a:p>
            <a:pPr algn="l">
              <a:defRPr sz="900" b="1">
                <a:solidFill>
                  <a:srgbClr val="343A4E"/>
                </a:solidFill>
              </a:defRPr>
            </a:pPr>
            <a:r>
              <a:t>○ Food</a:t>
            </a:r>
          </a:p>
        </p:txBody>
      </p:sp>
      <p:sp>
        <p:nvSpPr>
          <p:cNvPr id="33" name="Rounded Rectangle 32"/>
          <p:cNvSpPr/>
          <p:nvPr/>
        </p:nvSpPr>
        <p:spPr>
          <a:xfrm>
            <a:off x="9372600" y="4535424"/>
            <a:ext cx="182880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72600" y="4608576"/>
            <a:ext cx="1828800" cy="137160"/>
          </a:xfrm>
          <a:prstGeom prst="rect">
            <a:avLst/>
          </a:prstGeom>
          <a:noFill/>
        </p:spPr>
        <p:txBody>
          <a:bodyPr wrap="square">
            <a:spAutoFit/>
          </a:bodyPr>
          <a:lstStyle/>
          <a:p>
            <a:pPr algn="l">
              <a:defRPr sz="900" b="1">
                <a:solidFill>
                  <a:srgbClr val="343A4E"/>
                </a:solidFill>
              </a:defRPr>
            </a:pPr>
            <a:r>
              <a:t>○ Education</a:t>
            </a:r>
          </a:p>
        </p:txBody>
      </p:sp>
      <p:sp>
        <p:nvSpPr>
          <p:cNvPr id="35" name="Rounded Rectangle 34"/>
          <p:cNvSpPr/>
          <p:nvPr/>
        </p:nvSpPr>
        <p:spPr>
          <a:xfrm>
            <a:off x="9372600" y="4974336"/>
            <a:ext cx="182880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5047488"/>
            <a:ext cx="1828800" cy="137160"/>
          </a:xfrm>
          <a:prstGeom prst="rect">
            <a:avLst/>
          </a:prstGeom>
          <a:noFill/>
        </p:spPr>
        <p:txBody>
          <a:bodyPr wrap="square">
            <a:spAutoFit/>
          </a:bodyPr>
          <a:lstStyle/>
          <a:p>
            <a:pPr algn="l">
              <a:defRPr sz="900" b="1">
                <a:solidFill>
                  <a:srgbClr val="343A4E"/>
                </a:solidFill>
              </a:defRPr>
            </a:pPr>
            <a:r>
              <a:t>○ Shopping</a:t>
            </a:r>
          </a:p>
        </p:txBody>
      </p:sp>
      <p:sp>
        <p:nvSpPr>
          <p:cNvPr id="37" name="Rounded Rectangle 36"/>
          <p:cNvSpPr/>
          <p:nvPr/>
        </p:nvSpPr>
        <p:spPr>
          <a:xfrm>
            <a:off x="9372600" y="5413248"/>
            <a:ext cx="182880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72600" y="5486400"/>
            <a:ext cx="1828800" cy="137160"/>
          </a:xfrm>
          <a:prstGeom prst="rect">
            <a:avLst/>
          </a:prstGeom>
          <a:noFill/>
        </p:spPr>
        <p:txBody>
          <a:bodyPr wrap="square">
            <a:spAutoFit/>
          </a:bodyPr>
          <a:lstStyle/>
          <a:p>
            <a:pPr algn="l">
              <a:defRPr sz="900" b="1">
                <a:solidFill>
                  <a:srgbClr val="343A4E"/>
                </a:solidFill>
              </a:defRPr>
            </a:pPr>
            <a:r>
              <a:t>○ Other</a:t>
            </a:r>
          </a:p>
        </p:txBody>
      </p:sp>
      <p:sp>
        <p:nvSpPr>
          <p:cNvPr id="39" name="Rounded Rectangle 38"/>
          <p:cNvSpPr/>
          <p:nvPr/>
        </p:nvSpPr>
        <p:spPr>
          <a:xfrm>
            <a:off x="9372600" y="5852159"/>
            <a:ext cx="1828800" cy="384048"/>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72600" y="5961888"/>
            <a:ext cx="1828800" cy="137160"/>
          </a:xfrm>
          <a:prstGeom prst="rect">
            <a:avLst/>
          </a:prstGeom>
          <a:noFill/>
        </p:spPr>
        <p:txBody>
          <a:bodyPr wrap="square">
            <a:spAutoFit/>
          </a:bodyPr>
          <a:lstStyle/>
          <a:p>
            <a:pPr algn="ctr">
              <a:defRPr sz="900" b="1">
                <a:solidFill>
                  <a:srgbClr val="FFFFFF"/>
                </a:solidFill>
              </a:defRPr>
            </a:pPr>
            <a:r>
              <a:t>CONFIRM &amp; SAVE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Project Idea</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The main question: “Where did my money go?”</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2</a:t>
            </a:r>
          </a:p>
        </p:txBody>
      </p:sp>
      <p:sp>
        <p:nvSpPr>
          <p:cNvPr id="6" name="TextBox 5"/>
          <p:cNvSpPr txBox="1"/>
          <p:nvPr/>
        </p:nvSpPr>
        <p:spPr>
          <a:xfrm>
            <a:off x="731520" y="1463040"/>
            <a:ext cx="10515600" cy="411480"/>
          </a:xfrm>
          <a:prstGeom prst="rect">
            <a:avLst/>
          </a:prstGeom>
          <a:noFill/>
        </p:spPr>
        <p:txBody>
          <a:bodyPr wrap="square">
            <a:spAutoFit/>
          </a:bodyPr>
          <a:lstStyle/>
          <a:p>
            <a:pPr algn="l">
              <a:defRPr sz="1700" b="0">
                <a:solidFill>
                  <a:srgbClr val="343A4E"/>
                </a:solidFill>
              </a:defRPr>
            </a:pPr>
            <a:r>
              <a:t>• Students track food, travel, education, shopping, recharge and other expenses.</a:t>
            </a:r>
          </a:p>
        </p:txBody>
      </p:sp>
      <p:sp>
        <p:nvSpPr>
          <p:cNvPr id="7" name="TextBox 6"/>
          <p:cNvSpPr txBox="1"/>
          <p:nvPr/>
        </p:nvSpPr>
        <p:spPr>
          <a:xfrm>
            <a:off x="731520" y="2057400"/>
            <a:ext cx="10515600" cy="411480"/>
          </a:xfrm>
          <a:prstGeom prst="rect">
            <a:avLst/>
          </a:prstGeom>
          <a:noFill/>
        </p:spPr>
        <p:txBody>
          <a:bodyPr wrap="square">
            <a:spAutoFit/>
          </a:bodyPr>
          <a:lstStyle/>
          <a:p>
            <a:pPr algn="l">
              <a:defRPr sz="1700" b="0">
                <a:solidFill>
                  <a:srgbClr val="343A4E"/>
                </a:solidFill>
              </a:defRPr>
            </a:pPr>
            <a:r>
              <a:t>• When a supported payment notification appears, the app extracts amount and payee.</a:t>
            </a:r>
          </a:p>
        </p:txBody>
      </p:sp>
      <p:sp>
        <p:nvSpPr>
          <p:cNvPr id="8" name="TextBox 7"/>
          <p:cNvSpPr txBox="1"/>
          <p:nvPr/>
        </p:nvSpPr>
        <p:spPr>
          <a:xfrm>
            <a:off x="731520" y="2651760"/>
            <a:ext cx="10515600" cy="411480"/>
          </a:xfrm>
          <a:prstGeom prst="rect">
            <a:avLst/>
          </a:prstGeom>
          <a:noFill/>
        </p:spPr>
        <p:txBody>
          <a:bodyPr wrap="square">
            <a:spAutoFit/>
          </a:bodyPr>
          <a:lstStyle/>
          <a:p>
            <a:pPr algn="l">
              <a:defRPr sz="1700" b="0">
                <a:solidFill>
                  <a:srgbClr val="343A4E"/>
                </a:solidFill>
              </a:defRPr>
            </a:pPr>
            <a:r>
              <a:t>• Known payments get a category suggestion.</a:t>
            </a:r>
          </a:p>
        </p:txBody>
      </p:sp>
      <p:sp>
        <p:nvSpPr>
          <p:cNvPr id="9" name="TextBox 8"/>
          <p:cNvSpPr txBox="1"/>
          <p:nvPr/>
        </p:nvSpPr>
        <p:spPr>
          <a:xfrm>
            <a:off x="731520" y="3246120"/>
            <a:ext cx="10515600" cy="411480"/>
          </a:xfrm>
          <a:prstGeom prst="rect">
            <a:avLst/>
          </a:prstGeom>
          <a:noFill/>
        </p:spPr>
        <p:txBody>
          <a:bodyPr wrap="square">
            <a:spAutoFit/>
          </a:bodyPr>
          <a:lstStyle/>
          <a:p>
            <a:pPr algn="l">
              <a:defRPr sz="1700" b="0">
                <a:solidFill>
                  <a:srgbClr val="343A4E"/>
                </a:solidFill>
              </a:defRPr>
            </a:pPr>
            <a:r>
              <a:t>• Unknown payments are shown with category choices so the student decides.</a:t>
            </a:r>
          </a:p>
        </p:txBody>
      </p:sp>
      <p:sp>
        <p:nvSpPr>
          <p:cNvPr id="10" name="TextBox 9"/>
          <p:cNvSpPr txBox="1"/>
          <p:nvPr/>
        </p:nvSpPr>
        <p:spPr>
          <a:xfrm>
            <a:off x="731520" y="3840480"/>
            <a:ext cx="10515600" cy="411480"/>
          </a:xfrm>
          <a:prstGeom prst="rect">
            <a:avLst/>
          </a:prstGeom>
          <a:noFill/>
        </p:spPr>
        <p:txBody>
          <a:bodyPr wrap="square">
            <a:spAutoFit/>
          </a:bodyPr>
          <a:lstStyle/>
          <a:p>
            <a:pPr algn="l">
              <a:defRPr sz="1700" b="0">
                <a:solidFill>
                  <a:srgbClr val="343A4E"/>
                </a:solidFill>
              </a:defRPr>
            </a:pPr>
            <a:r>
              <a:t>• Confirmed expenses update totals, budget and charts.</a:t>
            </a:r>
          </a:p>
        </p:txBody>
      </p:sp>
      <p:sp>
        <p:nvSpPr>
          <p:cNvPr id="11" name="Rounded Rectangle 10"/>
          <p:cNvSpPr/>
          <p:nvPr/>
        </p:nvSpPr>
        <p:spPr>
          <a:xfrm>
            <a:off x="8961120" y="1280160"/>
            <a:ext cx="2286000" cy="512064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52560" y="1371600"/>
            <a:ext cx="2103120" cy="4937759"/>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89720" y="1783080"/>
            <a:ext cx="1828800" cy="274320"/>
          </a:xfrm>
          <a:prstGeom prst="rect">
            <a:avLst/>
          </a:prstGeom>
          <a:noFill/>
        </p:spPr>
        <p:txBody>
          <a:bodyPr wrap="square">
            <a:spAutoFit/>
          </a:bodyPr>
          <a:lstStyle/>
          <a:p>
            <a:pPr algn="l">
              <a:defRPr sz="1400" b="1">
                <a:solidFill>
                  <a:srgbClr val="191E37"/>
                </a:solidFill>
              </a:defRPr>
            </a:pPr>
            <a:r>
              <a:t>Hi, Student 👋</a:t>
            </a:r>
          </a:p>
        </p:txBody>
      </p:sp>
      <p:sp>
        <p:nvSpPr>
          <p:cNvPr id="14" name="Rounded Rectangle 13"/>
          <p:cNvSpPr/>
          <p:nvPr/>
        </p:nvSpPr>
        <p:spPr>
          <a:xfrm>
            <a:off x="9189720" y="2194560"/>
            <a:ext cx="1828800" cy="914400"/>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2377439"/>
            <a:ext cx="1554480" cy="164592"/>
          </a:xfrm>
          <a:prstGeom prst="rect">
            <a:avLst/>
          </a:prstGeom>
          <a:noFill/>
        </p:spPr>
        <p:txBody>
          <a:bodyPr wrap="square">
            <a:spAutoFit/>
          </a:bodyPr>
          <a:lstStyle/>
          <a:p>
            <a:pPr algn="l">
              <a:defRPr sz="800" b="0">
                <a:solidFill>
                  <a:srgbClr val="FFFFFF"/>
                </a:solidFill>
              </a:defRPr>
            </a:pPr>
            <a:r>
              <a:t>THIS MONTH</a:t>
            </a:r>
          </a:p>
        </p:txBody>
      </p:sp>
      <p:sp>
        <p:nvSpPr>
          <p:cNvPr id="16" name="TextBox 15"/>
          <p:cNvSpPr txBox="1"/>
          <p:nvPr/>
        </p:nvSpPr>
        <p:spPr>
          <a:xfrm>
            <a:off x="9326880" y="2633472"/>
            <a:ext cx="1554480" cy="274320"/>
          </a:xfrm>
          <a:prstGeom prst="rect">
            <a:avLst/>
          </a:prstGeom>
          <a:noFill/>
        </p:spPr>
        <p:txBody>
          <a:bodyPr wrap="square">
            <a:spAutoFit/>
          </a:bodyPr>
          <a:lstStyle/>
          <a:p>
            <a:pPr algn="l">
              <a:defRPr sz="2200" b="1">
                <a:solidFill>
                  <a:srgbClr val="FFFFFF"/>
                </a:solidFill>
              </a:defRPr>
            </a:pPr>
            <a:r>
              <a:t>₹6,250</a:t>
            </a:r>
          </a:p>
        </p:txBody>
      </p:sp>
      <p:sp>
        <p:nvSpPr>
          <p:cNvPr id="17" name="TextBox 16"/>
          <p:cNvSpPr txBox="1"/>
          <p:nvPr/>
        </p:nvSpPr>
        <p:spPr>
          <a:xfrm>
            <a:off x="9189720" y="3429000"/>
            <a:ext cx="1828800" cy="228600"/>
          </a:xfrm>
          <a:prstGeom prst="rect">
            <a:avLst/>
          </a:prstGeom>
          <a:noFill/>
        </p:spPr>
        <p:txBody>
          <a:bodyPr wrap="square">
            <a:spAutoFit/>
          </a:bodyPr>
          <a:lstStyle/>
          <a:p>
            <a:pPr algn="l">
              <a:defRPr sz="1100" b="1">
                <a:solidFill>
                  <a:srgbClr val="191E37"/>
                </a:solidFill>
              </a:defRPr>
            </a:pPr>
            <a:r>
              <a:t>Top Categories</a:t>
            </a:r>
          </a:p>
        </p:txBody>
      </p:sp>
      <p:sp>
        <p:nvSpPr>
          <p:cNvPr id="18" name="TextBox 17"/>
          <p:cNvSpPr txBox="1"/>
          <p:nvPr/>
        </p:nvSpPr>
        <p:spPr>
          <a:xfrm>
            <a:off x="9235440" y="3840479"/>
            <a:ext cx="1737360" cy="164592"/>
          </a:xfrm>
          <a:prstGeom prst="rect">
            <a:avLst/>
          </a:prstGeom>
          <a:noFill/>
        </p:spPr>
        <p:txBody>
          <a:bodyPr wrap="square">
            <a:spAutoFit/>
          </a:bodyPr>
          <a:lstStyle/>
          <a:p>
            <a:pPr algn="l">
              <a:defRPr sz="900" b="0">
                <a:solidFill>
                  <a:srgbClr val="343A4E"/>
                </a:solidFill>
              </a:defRPr>
            </a:pPr>
            <a:r>
              <a:t>Food</a:t>
            </a:r>
          </a:p>
        </p:txBody>
      </p:sp>
      <p:sp>
        <p:nvSpPr>
          <p:cNvPr id="19" name="TextBox 18"/>
          <p:cNvSpPr txBox="1"/>
          <p:nvPr/>
        </p:nvSpPr>
        <p:spPr>
          <a:xfrm>
            <a:off x="9235440" y="3840479"/>
            <a:ext cx="1737360" cy="164592"/>
          </a:xfrm>
          <a:prstGeom prst="rect">
            <a:avLst/>
          </a:prstGeom>
          <a:noFill/>
        </p:spPr>
        <p:txBody>
          <a:bodyPr wrap="square">
            <a:spAutoFit/>
          </a:bodyPr>
          <a:lstStyle/>
          <a:p>
            <a:pPr algn="r">
              <a:defRPr sz="900" b="1">
                <a:solidFill>
                  <a:srgbClr val="5B43BE"/>
                </a:solidFill>
              </a:defRPr>
            </a:pPr>
            <a:r>
              <a:t>₹2,100</a:t>
            </a:r>
          </a:p>
        </p:txBody>
      </p:sp>
      <p:sp>
        <p:nvSpPr>
          <p:cNvPr id="20" name="TextBox 19"/>
          <p:cNvSpPr txBox="1"/>
          <p:nvPr/>
        </p:nvSpPr>
        <p:spPr>
          <a:xfrm>
            <a:off x="9235440" y="4343399"/>
            <a:ext cx="1737360" cy="164592"/>
          </a:xfrm>
          <a:prstGeom prst="rect">
            <a:avLst/>
          </a:prstGeom>
          <a:noFill/>
        </p:spPr>
        <p:txBody>
          <a:bodyPr wrap="square">
            <a:spAutoFit/>
          </a:bodyPr>
          <a:lstStyle/>
          <a:p>
            <a:pPr algn="l">
              <a:defRPr sz="900" b="0">
                <a:solidFill>
                  <a:srgbClr val="343A4E"/>
                </a:solidFill>
              </a:defRPr>
            </a:pPr>
            <a:r>
              <a:t>Travel</a:t>
            </a:r>
          </a:p>
        </p:txBody>
      </p:sp>
      <p:sp>
        <p:nvSpPr>
          <p:cNvPr id="21" name="TextBox 20"/>
          <p:cNvSpPr txBox="1"/>
          <p:nvPr/>
        </p:nvSpPr>
        <p:spPr>
          <a:xfrm>
            <a:off x="9235440" y="4343399"/>
            <a:ext cx="1737360" cy="164592"/>
          </a:xfrm>
          <a:prstGeom prst="rect">
            <a:avLst/>
          </a:prstGeom>
          <a:noFill/>
        </p:spPr>
        <p:txBody>
          <a:bodyPr wrap="square">
            <a:spAutoFit/>
          </a:bodyPr>
          <a:lstStyle/>
          <a:p>
            <a:pPr algn="r">
              <a:defRPr sz="900" b="1">
                <a:solidFill>
                  <a:srgbClr val="5B43BE"/>
                </a:solidFill>
              </a:defRPr>
            </a:pPr>
            <a:r>
              <a:t>₹1,200</a:t>
            </a:r>
          </a:p>
        </p:txBody>
      </p:sp>
      <p:sp>
        <p:nvSpPr>
          <p:cNvPr id="22" name="TextBox 21"/>
          <p:cNvSpPr txBox="1"/>
          <p:nvPr/>
        </p:nvSpPr>
        <p:spPr>
          <a:xfrm>
            <a:off x="9235440" y="4846319"/>
            <a:ext cx="1737360" cy="164592"/>
          </a:xfrm>
          <a:prstGeom prst="rect">
            <a:avLst/>
          </a:prstGeom>
          <a:noFill/>
        </p:spPr>
        <p:txBody>
          <a:bodyPr wrap="square">
            <a:spAutoFit/>
          </a:bodyPr>
          <a:lstStyle/>
          <a:p>
            <a:pPr algn="l">
              <a:defRPr sz="900" b="0">
                <a:solidFill>
                  <a:srgbClr val="343A4E"/>
                </a:solidFill>
              </a:defRPr>
            </a:pPr>
            <a:r>
              <a:t>Education</a:t>
            </a:r>
          </a:p>
        </p:txBody>
      </p:sp>
      <p:sp>
        <p:nvSpPr>
          <p:cNvPr id="23" name="TextBox 22"/>
          <p:cNvSpPr txBox="1"/>
          <p:nvPr/>
        </p:nvSpPr>
        <p:spPr>
          <a:xfrm>
            <a:off x="9235440" y="4846319"/>
            <a:ext cx="1737360" cy="164592"/>
          </a:xfrm>
          <a:prstGeom prst="rect">
            <a:avLst/>
          </a:prstGeom>
          <a:noFill/>
        </p:spPr>
        <p:txBody>
          <a:bodyPr wrap="square">
            <a:spAutoFit/>
          </a:bodyPr>
          <a:lstStyle/>
          <a:p>
            <a:pPr algn="r">
              <a:defRPr sz="900" b="1">
                <a:solidFill>
                  <a:srgbClr val="5B43BE"/>
                </a:solidFill>
              </a:defRPr>
            </a:pPr>
            <a:r>
              <a:t>₹1,000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Systems &amp; Technologies Used</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What we use to build the Android application</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3</a:t>
            </a:r>
          </a:p>
        </p:txBody>
      </p:sp>
      <p:sp>
        <p:nvSpPr>
          <p:cNvPr id="6" name="Rectangle 5"/>
          <p:cNvSpPr/>
          <p:nvPr/>
        </p:nvSpPr>
        <p:spPr>
          <a:xfrm>
            <a:off x="594360" y="1371600"/>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536192"/>
            <a:ext cx="4855464" cy="274320"/>
          </a:xfrm>
          <a:prstGeom prst="rect">
            <a:avLst/>
          </a:prstGeom>
          <a:noFill/>
        </p:spPr>
        <p:txBody>
          <a:bodyPr wrap="square">
            <a:spAutoFit/>
          </a:bodyPr>
          <a:lstStyle/>
          <a:p>
            <a:pPr algn="l">
              <a:defRPr sz="1400" b="1">
                <a:solidFill>
                  <a:srgbClr val="5B43BE"/>
                </a:solidFill>
              </a:defRPr>
            </a:pPr>
            <a:r>
              <a:t>Android Studio</a:t>
            </a:r>
          </a:p>
        </p:txBody>
      </p:sp>
      <p:sp>
        <p:nvSpPr>
          <p:cNvPr id="8" name="TextBox 7"/>
          <p:cNvSpPr txBox="1"/>
          <p:nvPr/>
        </p:nvSpPr>
        <p:spPr>
          <a:xfrm>
            <a:off x="795528" y="1938528"/>
            <a:ext cx="4855464" cy="612647"/>
          </a:xfrm>
          <a:prstGeom prst="rect">
            <a:avLst/>
          </a:prstGeom>
          <a:noFill/>
        </p:spPr>
        <p:txBody>
          <a:bodyPr wrap="square">
            <a:spAutoFit/>
          </a:bodyPr>
          <a:lstStyle/>
          <a:p>
            <a:pPr algn="l">
              <a:defRPr sz="1100" b="0">
                <a:solidFill>
                  <a:srgbClr val="343A4E"/>
                </a:solidFill>
              </a:defRPr>
            </a:pPr>
            <a:r>
              <a:t>Main software used to create, run and test the Android app.</a:t>
            </a:r>
          </a:p>
        </p:txBody>
      </p:sp>
      <p:sp>
        <p:nvSpPr>
          <p:cNvPr id="9" name="Rectangle 8"/>
          <p:cNvSpPr/>
          <p:nvPr/>
        </p:nvSpPr>
        <p:spPr>
          <a:xfrm>
            <a:off x="6217920" y="1371600"/>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536192"/>
            <a:ext cx="4855464" cy="274320"/>
          </a:xfrm>
          <a:prstGeom prst="rect">
            <a:avLst/>
          </a:prstGeom>
          <a:noFill/>
        </p:spPr>
        <p:txBody>
          <a:bodyPr wrap="square">
            <a:spAutoFit/>
          </a:bodyPr>
          <a:lstStyle/>
          <a:p>
            <a:pPr algn="l">
              <a:defRPr sz="1400" b="1">
                <a:solidFill>
                  <a:srgbClr val="5B43BE"/>
                </a:solidFill>
              </a:defRPr>
            </a:pPr>
            <a:r>
              <a:t>Java / Kotlin</a:t>
            </a:r>
          </a:p>
        </p:txBody>
      </p:sp>
      <p:sp>
        <p:nvSpPr>
          <p:cNvPr id="11" name="TextBox 10"/>
          <p:cNvSpPr txBox="1"/>
          <p:nvPr/>
        </p:nvSpPr>
        <p:spPr>
          <a:xfrm>
            <a:off x="6419088" y="1938528"/>
            <a:ext cx="4855464" cy="612647"/>
          </a:xfrm>
          <a:prstGeom prst="rect">
            <a:avLst/>
          </a:prstGeom>
          <a:noFill/>
        </p:spPr>
        <p:txBody>
          <a:bodyPr wrap="square">
            <a:spAutoFit/>
          </a:bodyPr>
          <a:lstStyle/>
          <a:p>
            <a:pPr algn="l">
              <a:defRPr sz="1100" b="0">
                <a:solidFill>
                  <a:srgbClr val="343A4E"/>
                </a:solidFill>
              </a:defRPr>
            </a:pPr>
            <a:r>
              <a:t>Used to write the app logic: adding expenses, calculations and category handling.</a:t>
            </a:r>
          </a:p>
        </p:txBody>
      </p:sp>
      <p:sp>
        <p:nvSpPr>
          <p:cNvPr id="12" name="Rectangle 11"/>
          <p:cNvSpPr/>
          <p:nvPr/>
        </p:nvSpPr>
        <p:spPr>
          <a:xfrm>
            <a:off x="594360" y="2944368"/>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108960"/>
            <a:ext cx="4855464" cy="274320"/>
          </a:xfrm>
          <a:prstGeom prst="rect">
            <a:avLst/>
          </a:prstGeom>
          <a:noFill/>
        </p:spPr>
        <p:txBody>
          <a:bodyPr wrap="square">
            <a:spAutoFit/>
          </a:bodyPr>
          <a:lstStyle/>
          <a:p>
            <a:pPr algn="l">
              <a:defRPr sz="1400" b="1">
                <a:solidFill>
                  <a:srgbClr val="5B43BE"/>
                </a:solidFill>
              </a:defRPr>
            </a:pPr>
            <a:r>
              <a:t>XML</a:t>
            </a:r>
          </a:p>
        </p:txBody>
      </p:sp>
      <p:sp>
        <p:nvSpPr>
          <p:cNvPr id="14" name="TextBox 13"/>
          <p:cNvSpPr txBox="1"/>
          <p:nvPr/>
        </p:nvSpPr>
        <p:spPr>
          <a:xfrm>
            <a:off x="795528" y="3511296"/>
            <a:ext cx="4855464" cy="612647"/>
          </a:xfrm>
          <a:prstGeom prst="rect">
            <a:avLst/>
          </a:prstGeom>
          <a:noFill/>
        </p:spPr>
        <p:txBody>
          <a:bodyPr wrap="square">
            <a:spAutoFit/>
          </a:bodyPr>
          <a:lstStyle/>
          <a:p>
            <a:pPr algn="l">
              <a:defRPr sz="1100" b="0">
                <a:solidFill>
                  <a:srgbClr val="343A4E"/>
                </a:solidFill>
              </a:defRPr>
            </a:pPr>
            <a:r>
              <a:t>Used to design the app screens such as Login, Dashboard and Add Expense.</a:t>
            </a:r>
          </a:p>
        </p:txBody>
      </p:sp>
      <p:sp>
        <p:nvSpPr>
          <p:cNvPr id="15" name="Rectangle 14"/>
          <p:cNvSpPr/>
          <p:nvPr/>
        </p:nvSpPr>
        <p:spPr>
          <a:xfrm>
            <a:off x="6217920" y="2944368"/>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3108960"/>
            <a:ext cx="4855464" cy="274320"/>
          </a:xfrm>
          <a:prstGeom prst="rect">
            <a:avLst/>
          </a:prstGeom>
          <a:noFill/>
        </p:spPr>
        <p:txBody>
          <a:bodyPr wrap="square">
            <a:spAutoFit/>
          </a:bodyPr>
          <a:lstStyle/>
          <a:p>
            <a:pPr algn="l">
              <a:defRPr sz="1400" b="1">
                <a:solidFill>
                  <a:srgbClr val="5B43BE"/>
                </a:solidFill>
              </a:defRPr>
            </a:pPr>
            <a:r>
              <a:t>SQLite / Room</a:t>
            </a:r>
          </a:p>
        </p:txBody>
      </p:sp>
      <p:sp>
        <p:nvSpPr>
          <p:cNvPr id="17" name="TextBox 16"/>
          <p:cNvSpPr txBox="1"/>
          <p:nvPr/>
        </p:nvSpPr>
        <p:spPr>
          <a:xfrm>
            <a:off x="6419088" y="3511296"/>
            <a:ext cx="4855464" cy="612647"/>
          </a:xfrm>
          <a:prstGeom prst="rect">
            <a:avLst/>
          </a:prstGeom>
          <a:noFill/>
        </p:spPr>
        <p:txBody>
          <a:bodyPr wrap="square">
            <a:spAutoFit/>
          </a:bodyPr>
          <a:lstStyle/>
          <a:p>
            <a:pPr algn="l">
              <a:defRPr sz="1100" b="0">
                <a:solidFill>
                  <a:srgbClr val="343A4E"/>
                </a:solidFill>
              </a:defRPr>
            </a:pPr>
            <a:r>
              <a:t>Used to save expenses, categories, dates and budget details inside the phone.</a:t>
            </a:r>
          </a:p>
        </p:txBody>
      </p:sp>
      <p:sp>
        <p:nvSpPr>
          <p:cNvPr id="18" name="Rectangle 17"/>
          <p:cNvSpPr/>
          <p:nvPr/>
        </p:nvSpPr>
        <p:spPr>
          <a:xfrm>
            <a:off x="594360" y="4517136"/>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681727"/>
            <a:ext cx="4855464" cy="274320"/>
          </a:xfrm>
          <a:prstGeom prst="rect">
            <a:avLst/>
          </a:prstGeom>
          <a:noFill/>
        </p:spPr>
        <p:txBody>
          <a:bodyPr wrap="square">
            <a:spAutoFit/>
          </a:bodyPr>
          <a:lstStyle/>
          <a:p>
            <a:pPr algn="l">
              <a:defRPr sz="1400" b="1">
                <a:solidFill>
                  <a:srgbClr val="5B43BE"/>
                </a:solidFill>
              </a:defRPr>
            </a:pPr>
            <a:r>
              <a:t>Notification Listener</a:t>
            </a:r>
          </a:p>
        </p:txBody>
      </p:sp>
      <p:sp>
        <p:nvSpPr>
          <p:cNvPr id="20" name="TextBox 19"/>
          <p:cNvSpPr txBox="1"/>
          <p:nvPr/>
        </p:nvSpPr>
        <p:spPr>
          <a:xfrm>
            <a:off x="795528" y="5084064"/>
            <a:ext cx="4855464" cy="612647"/>
          </a:xfrm>
          <a:prstGeom prst="rect">
            <a:avLst/>
          </a:prstGeom>
          <a:noFill/>
        </p:spPr>
        <p:txBody>
          <a:bodyPr wrap="square">
            <a:spAutoFit/>
          </a:bodyPr>
          <a:lstStyle/>
          <a:p>
            <a:pPr algn="l">
              <a:defRPr sz="1100" b="0">
                <a:solidFill>
                  <a:srgbClr val="343A4E"/>
                </a:solidFill>
              </a:defRPr>
            </a:pPr>
            <a:r>
              <a:t>Used, with user permission, to read supported payment notifications and detect transactions.</a:t>
            </a:r>
          </a:p>
        </p:txBody>
      </p:sp>
      <p:sp>
        <p:nvSpPr>
          <p:cNvPr id="21" name="Rectangle 20"/>
          <p:cNvSpPr/>
          <p:nvPr/>
        </p:nvSpPr>
        <p:spPr>
          <a:xfrm>
            <a:off x="6217920" y="4517136"/>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4681727"/>
            <a:ext cx="4855464" cy="274320"/>
          </a:xfrm>
          <a:prstGeom prst="rect">
            <a:avLst/>
          </a:prstGeom>
          <a:noFill/>
        </p:spPr>
        <p:txBody>
          <a:bodyPr wrap="square">
            <a:spAutoFit/>
          </a:bodyPr>
          <a:lstStyle/>
          <a:p>
            <a:pPr algn="l">
              <a:defRPr sz="1400" b="1">
                <a:solidFill>
                  <a:srgbClr val="5B43BE"/>
                </a:solidFill>
              </a:defRPr>
            </a:pPr>
            <a:r>
              <a:t>Charts / Graphs</a:t>
            </a:r>
          </a:p>
        </p:txBody>
      </p:sp>
      <p:sp>
        <p:nvSpPr>
          <p:cNvPr id="23" name="TextBox 22"/>
          <p:cNvSpPr txBox="1"/>
          <p:nvPr/>
        </p:nvSpPr>
        <p:spPr>
          <a:xfrm>
            <a:off x="6419088" y="5084064"/>
            <a:ext cx="4855464" cy="612647"/>
          </a:xfrm>
          <a:prstGeom prst="rect">
            <a:avLst/>
          </a:prstGeom>
          <a:noFill/>
        </p:spPr>
        <p:txBody>
          <a:bodyPr wrap="square">
            <a:spAutoFit/>
          </a:bodyPr>
          <a:lstStyle/>
          <a:p>
            <a:pPr algn="l">
              <a:defRPr sz="1100" b="0">
                <a:solidFill>
                  <a:srgbClr val="343A4E"/>
                </a:solidFill>
              </a:defRPr>
            </a:pPr>
            <a:r>
              <a:t>Used to show spending by Food, Travel, Education, Shopping and Other.</a:t>
            </a:r>
          </a:p>
        </p:txBody>
      </p:sp>
      <p:sp>
        <p:nvSpPr>
          <p:cNvPr id="24" name="TextBox 23"/>
          <p:cNvSpPr txBox="1"/>
          <p:nvPr/>
        </p:nvSpPr>
        <p:spPr>
          <a:xfrm>
            <a:off x="731520" y="6172200"/>
            <a:ext cx="10515600" cy="228600"/>
          </a:xfrm>
          <a:prstGeom prst="rect">
            <a:avLst/>
          </a:prstGeom>
          <a:noFill/>
        </p:spPr>
        <p:txBody>
          <a:bodyPr wrap="square">
            <a:spAutoFit/>
          </a:bodyPr>
          <a:lstStyle/>
          <a:p>
            <a:pPr algn="ctr">
              <a:defRPr sz="1000" b="0">
                <a:solidFill>
                  <a:srgbClr val="6E768A"/>
                </a:solidFill>
              </a:defRPr>
            </a:pPr>
            <a:r>
              <a:t>Note: Python/HTML are not necessary for a native Android version. If your actual project uses them, we can add them to the stack.</a:t>
            </a:r>
          </a:p>
        </p:txBody>
      </p:sp>
      <p:sp>
        <p:nvSpPr>
          <p:cNvPr id="25" name="TextBox 24"/>
          <p:cNvSpPr txBox="1"/>
          <p:nvPr/>
        </p:nvSpPr>
        <p:spPr>
          <a:xfrm>
            <a:off x="685800" y="6080760"/>
            <a:ext cx="10789920" cy="320040"/>
          </a:xfrm>
          <a:prstGeom prst="rect">
            <a:avLst/>
          </a:prstGeom>
          <a:noFill/>
        </p:spPr>
        <p:txBody>
          <a:bodyPr wrap="none">
            <a:spAutoFit/>
          </a:bodyPr>
          <a:lstStyle/>
          <a:p>
            <a:pPr algn="ctr">
              <a:defRPr sz="1000">
                <a:solidFill>
                  <a:srgbClr val="6E768A"/>
                </a:solidFill>
              </a:defRPr>
            </a:pPr>
            <a:r>
              <a:t>Transaction input: Bank SMS / notification (with user permission) → extract only amount + available payee/merchant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How It Works</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Complete flow from payment to analysis</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4</a:t>
            </a:r>
          </a:p>
        </p:txBody>
      </p:sp>
      <p:sp>
        <p:nvSpPr>
          <p:cNvPr id="6" name="Rounded Rectangle 5"/>
          <p:cNvSpPr/>
          <p:nvPr/>
        </p:nvSpPr>
        <p:spPr>
          <a:xfrm>
            <a:off x="502920" y="2240280"/>
            <a:ext cx="16002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514600"/>
            <a:ext cx="1417320" cy="411480"/>
          </a:xfrm>
          <a:prstGeom prst="rect">
            <a:avLst/>
          </a:prstGeom>
          <a:noFill/>
        </p:spPr>
        <p:txBody>
          <a:bodyPr wrap="square">
            <a:spAutoFit/>
          </a:bodyPr>
          <a:lstStyle/>
          <a:p>
            <a:pPr algn="ctr">
              <a:defRPr sz="1100" b="1">
                <a:solidFill>
                  <a:srgbClr val="191E37"/>
                </a:solidFill>
              </a:defRPr>
            </a:pPr>
            <a:r>
              <a:t>Payment completed</a:t>
            </a:r>
          </a:p>
        </p:txBody>
      </p:sp>
      <p:sp>
        <p:nvSpPr>
          <p:cNvPr id="8" name="Rounded Rectangle 7"/>
          <p:cNvSpPr/>
          <p:nvPr/>
        </p:nvSpPr>
        <p:spPr>
          <a:xfrm>
            <a:off x="2441448" y="2240280"/>
            <a:ext cx="16002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32888" y="2514600"/>
            <a:ext cx="1417320" cy="411480"/>
          </a:xfrm>
          <a:prstGeom prst="rect">
            <a:avLst/>
          </a:prstGeom>
          <a:noFill/>
        </p:spPr>
        <p:txBody>
          <a:bodyPr wrap="square">
            <a:spAutoFit/>
          </a:bodyPr>
          <a:lstStyle/>
          <a:p>
            <a:pPr algn="ctr">
              <a:defRPr sz="1100" b="1">
                <a:solidFill>
                  <a:srgbClr val="191E37"/>
                </a:solidFill>
              </a:defRPr>
            </a:pPr>
            <a:r>
              <a:t>Notification detected</a:t>
            </a:r>
          </a:p>
        </p:txBody>
      </p:sp>
      <p:sp>
        <p:nvSpPr>
          <p:cNvPr id="10" name="Rounded Rectangle 9"/>
          <p:cNvSpPr/>
          <p:nvPr/>
        </p:nvSpPr>
        <p:spPr>
          <a:xfrm>
            <a:off x="4379976" y="2240280"/>
            <a:ext cx="16002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514600"/>
            <a:ext cx="1417320" cy="411480"/>
          </a:xfrm>
          <a:prstGeom prst="rect">
            <a:avLst/>
          </a:prstGeom>
          <a:noFill/>
        </p:spPr>
        <p:txBody>
          <a:bodyPr wrap="square">
            <a:spAutoFit/>
          </a:bodyPr>
          <a:lstStyle/>
          <a:p>
            <a:pPr algn="ctr">
              <a:defRPr sz="1100" b="1">
                <a:solidFill>
                  <a:srgbClr val="191E37"/>
                </a:solidFill>
              </a:defRPr>
            </a:pPr>
            <a:r>
              <a:t>Amount + payee extracted</a:t>
            </a:r>
          </a:p>
        </p:txBody>
      </p:sp>
      <p:sp>
        <p:nvSpPr>
          <p:cNvPr id="12" name="Rounded Rectangle 11"/>
          <p:cNvSpPr/>
          <p:nvPr/>
        </p:nvSpPr>
        <p:spPr>
          <a:xfrm>
            <a:off x="6318504" y="2240280"/>
            <a:ext cx="1600200" cy="1051560"/>
          </a:xfrm>
          <a:prstGeom prst="roundRect">
            <a:avLst/>
          </a:prstGeom>
          <a:solidFill>
            <a:srgbClr val="EFEB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514600"/>
            <a:ext cx="1417320" cy="411480"/>
          </a:xfrm>
          <a:prstGeom prst="rect">
            <a:avLst/>
          </a:prstGeom>
          <a:noFill/>
        </p:spPr>
        <p:txBody>
          <a:bodyPr wrap="square">
            <a:spAutoFit/>
          </a:bodyPr>
          <a:lstStyle/>
          <a:p>
            <a:pPr algn="ctr">
              <a:defRPr sz="1100" b="1">
                <a:solidFill>
                  <a:srgbClr val="5B43BE"/>
                </a:solidFill>
              </a:defRPr>
            </a:pPr>
            <a:r>
              <a:t>Category suggested / asked</a:t>
            </a:r>
          </a:p>
        </p:txBody>
      </p:sp>
      <p:sp>
        <p:nvSpPr>
          <p:cNvPr id="14" name="Rounded Rectangle 13"/>
          <p:cNvSpPr/>
          <p:nvPr/>
        </p:nvSpPr>
        <p:spPr>
          <a:xfrm>
            <a:off x="8257032" y="2240280"/>
            <a:ext cx="16002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2514600"/>
            <a:ext cx="1417320" cy="411480"/>
          </a:xfrm>
          <a:prstGeom prst="rect">
            <a:avLst/>
          </a:prstGeom>
          <a:noFill/>
        </p:spPr>
        <p:txBody>
          <a:bodyPr wrap="square">
            <a:spAutoFit/>
          </a:bodyPr>
          <a:lstStyle/>
          <a:p>
            <a:pPr algn="ctr">
              <a:defRPr sz="1100" b="1">
                <a:solidFill>
                  <a:srgbClr val="191E37"/>
                </a:solidFill>
              </a:defRPr>
            </a:pPr>
            <a:r>
              <a:t>User confirms</a:t>
            </a:r>
          </a:p>
        </p:txBody>
      </p:sp>
      <p:sp>
        <p:nvSpPr>
          <p:cNvPr id="16" name="Rounded Rectangle 15"/>
          <p:cNvSpPr/>
          <p:nvPr/>
        </p:nvSpPr>
        <p:spPr>
          <a:xfrm>
            <a:off x="10195560" y="2240280"/>
            <a:ext cx="16002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7000" y="2514600"/>
            <a:ext cx="1417320" cy="411480"/>
          </a:xfrm>
          <a:prstGeom prst="rect">
            <a:avLst/>
          </a:prstGeom>
          <a:noFill/>
        </p:spPr>
        <p:txBody>
          <a:bodyPr wrap="square">
            <a:spAutoFit/>
          </a:bodyPr>
          <a:lstStyle/>
          <a:p>
            <a:pPr algn="ctr">
              <a:defRPr sz="1100" b="1">
                <a:solidFill>
                  <a:srgbClr val="191E37"/>
                </a:solidFill>
              </a:defRPr>
            </a:pPr>
            <a:r>
              <a:t>Database + analytics updated</a:t>
            </a:r>
          </a:p>
        </p:txBody>
      </p:sp>
      <p:sp>
        <p:nvSpPr>
          <p:cNvPr id="18" name="TextBox 17"/>
          <p:cNvSpPr txBox="1"/>
          <p:nvPr/>
        </p:nvSpPr>
        <p:spPr>
          <a:xfrm>
            <a:off x="914400" y="4160520"/>
            <a:ext cx="10332720" cy="457200"/>
          </a:xfrm>
          <a:prstGeom prst="rect">
            <a:avLst/>
          </a:prstGeom>
          <a:noFill/>
        </p:spPr>
        <p:txBody>
          <a:bodyPr wrap="square">
            <a:spAutoFit/>
          </a:bodyPr>
          <a:lstStyle/>
          <a:p>
            <a:pPr algn="ctr">
              <a:defRPr sz="1500" b="1">
                <a:solidFill>
                  <a:srgbClr val="191E37"/>
                </a:solidFill>
              </a:defRPr>
            </a:pPr>
            <a:r>
              <a:t>Example logic: known merchant → suggest category | unknown person → show Travel / Food / Education / Shopping /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How to Add an Expense</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Automatic detection + manual entry</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5</a:t>
            </a:r>
          </a:p>
        </p:txBody>
      </p:sp>
      <p:sp>
        <p:nvSpPr>
          <p:cNvPr id="6" name="Rounded Rectangle 5"/>
          <p:cNvSpPr/>
          <p:nvPr/>
        </p:nvSpPr>
        <p:spPr>
          <a:xfrm>
            <a:off x="914400" y="1188720"/>
            <a:ext cx="2834640" cy="530352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280160"/>
            <a:ext cx="2651760" cy="51206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691640"/>
            <a:ext cx="2377440" cy="274320"/>
          </a:xfrm>
          <a:prstGeom prst="rect">
            <a:avLst/>
          </a:prstGeom>
          <a:noFill/>
        </p:spPr>
        <p:txBody>
          <a:bodyPr wrap="square">
            <a:spAutoFit/>
          </a:bodyPr>
          <a:lstStyle/>
          <a:p>
            <a:pPr algn="l">
              <a:defRPr sz="1500" b="1">
                <a:solidFill>
                  <a:srgbClr val="191E37"/>
                </a:solidFill>
              </a:defRPr>
            </a:pPr>
            <a:r>
              <a:t>Transaction Detected</a:t>
            </a:r>
          </a:p>
        </p:txBody>
      </p:sp>
      <p:sp>
        <p:nvSpPr>
          <p:cNvPr id="9" name="TextBox 8"/>
          <p:cNvSpPr txBox="1"/>
          <p:nvPr/>
        </p:nvSpPr>
        <p:spPr>
          <a:xfrm>
            <a:off x="1143000" y="2148840"/>
            <a:ext cx="2377440" cy="228600"/>
          </a:xfrm>
          <a:prstGeom prst="rect">
            <a:avLst/>
          </a:prstGeom>
          <a:noFill/>
        </p:spPr>
        <p:txBody>
          <a:bodyPr wrap="square">
            <a:spAutoFit/>
          </a:bodyPr>
          <a:lstStyle/>
          <a:p>
            <a:pPr algn="l">
              <a:defRPr sz="900" b="0">
                <a:solidFill>
                  <a:srgbClr val="6E768A"/>
                </a:solidFill>
              </a:defRPr>
            </a:pPr>
            <a:r>
              <a:t>Paid to: Unknown Person</a:t>
            </a:r>
          </a:p>
        </p:txBody>
      </p:sp>
      <p:sp>
        <p:nvSpPr>
          <p:cNvPr id="10" name="TextBox 9"/>
          <p:cNvSpPr txBox="1"/>
          <p:nvPr/>
        </p:nvSpPr>
        <p:spPr>
          <a:xfrm>
            <a:off x="1143000" y="2487168"/>
            <a:ext cx="2377440" cy="365760"/>
          </a:xfrm>
          <a:prstGeom prst="rect">
            <a:avLst/>
          </a:prstGeom>
          <a:noFill/>
        </p:spPr>
        <p:txBody>
          <a:bodyPr wrap="square">
            <a:spAutoFit/>
          </a:bodyPr>
          <a:lstStyle/>
          <a:p>
            <a:pPr algn="ctr">
              <a:defRPr sz="2400" b="1">
                <a:solidFill>
                  <a:srgbClr val="191E37"/>
                </a:solidFill>
              </a:defRPr>
            </a:pPr>
            <a:r>
              <a:t>₹20</a:t>
            </a:r>
          </a:p>
        </p:txBody>
      </p:sp>
      <p:sp>
        <p:nvSpPr>
          <p:cNvPr id="11" name="TextBox 10"/>
          <p:cNvSpPr txBox="1"/>
          <p:nvPr/>
        </p:nvSpPr>
        <p:spPr>
          <a:xfrm>
            <a:off x="1143000" y="3017520"/>
            <a:ext cx="2377440" cy="228600"/>
          </a:xfrm>
          <a:prstGeom prst="rect">
            <a:avLst/>
          </a:prstGeom>
          <a:noFill/>
        </p:spPr>
        <p:txBody>
          <a:bodyPr wrap="square">
            <a:spAutoFit/>
          </a:bodyPr>
          <a:lstStyle/>
          <a:p>
            <a:pPr algn="ctr">
              <a:defRPr sz="1000" b="1">
                <a:solidFill>
                  <a:srgbClr val="343A4E"/>
                </a:solidFill>
              </a:defRPr>
            </a:pPr>
            <a:r>
              <a:t>What is this expense for?</a:t>
            </a:r>
          </a:p>
        </p:txBody>
      </p:sp>
      <p:sp>
        <p:nvSpPr>
          <p:cNvPr id="12" name="Rounded Rectangle 11"/>
          <p:cNvSpPr/>
          <p:nvPr/>
        </p:nvSpPr>
        <p:spPr>
          <a:xfrm>
            <a:off x="1143000" y="3429000"/>
            <a:ext cx="2377440" cy="320040"/>
          </a:xfrm>
          <a:prstGeom prst="roundRect">
            <a:avLst/>
          </a:prstGeom>
          <a:solidFill>
            <a:srgbClr val="EFEBFF"/>
          </a:solidFill>
          <a:ln>
            <a:solidFill>
              <a:srgbClr val="EF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502152"/>
            <a:ext cx="2377440" cy="137160"/>
          </a:xfrm>
          <a:prstGeom prst="rect">
            <a:avLst/>
          </a:prstGeom>
          <a:noFill/>
        </p:spPr>
        <p:txBody>
          <a:bodyPr wrap="square">
            <a:spAutoFit/>
          </a:bodyPr>
          <a:lstStyle/>
          <a:p>
            <a:pPr algn="l">
              <a:defRPr sz="900" b="1">
                <a:solidFill>
                  <a:srgbClr val="5B43BE"/>
                </a:solidFill>
              </a:defRPr>
            </a:pPr>
            <a:r>
              <a:t>● Travel</a:t>
            </a:r>
          </a:p>
        </p:txBody>
      </p:sp>
      <p:sp>
        <p:nvSpPr>
          <p:cNvPr id="14" name="Rounded Rectangle 13"/>
          <p:cNvSpPr/>
          <p:nvPr/>
        </p:nvSpPr>
        <p:spPr>
          <a:xfrm>
            <a:off x="1143000" y="3867912"/>
            <a:ext cx="237744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941064"/>
            <a:ext cx="2377440" cy="137160"/>
          </a:xfrm>
          <a:prstGeom prst="rect">
            <a:avLst/>
          </a:prstGeom>
          <a:noFill/>
        </p:spPr>
        <p:txBody>
          <a:bodyPr wrap="square">
            <a:spAutoFit/>
          </a:bodyPr>
          <a:lstStyle/>
          <a:p>
            <a:pPr algn="l">
              <a:defRPr sz="900" b="1">
                <a:solidFill>
                  <a:srgbClr val="343A4E"/>
                </a:solidFill>
              </a:defRPr>
            </a:pPr>
            <a:r>
              <a:t>○ Food</a:t>
            </a:r>
          </a:p>
        </p:txBody>
      </p:sp>
      <p:sp>
        <p:nvSpPr>
          <p:cNvPr id="16" name="Rounded Rectangle 15"/>
          <p:cNvSpPr/>
          <p:nvPr/>
        </p:nvSpPr>
        <p:spPr>
          <a:xfrm>
            <a:off x="1143000" y="4306824"/>
            <a:ext cx="237744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379976"/>
            <a:ext cx="2377440" cy="137160"/>
          </a:xfrm>
          <a:prstGeom prst="rect">
            <a:avLst/>
          </a:prstGeom>
          <a:noFill/>
        </p:spPr>
        <p:txBody>
          <a:bodyPr wrap="square">
            <a:spAutoFit/>
          </a:bodyPr>
          <a:lstStyle/>
          <a:p>
            <a:pPr algn="l">
              <a:defRPr sz="900" b="1">
                <a:solidFill>
                  <a:srgbClr val="343A4E"/>
                </a:solidFill>
              </a:defRPr>
            </a:pPr>
            <a:r>
              <a:t>○ Education</a:t>
            </a:r>
          </a:p>
        </p:txBody>
      </p:sp>
      <p:sp>
        <p:nvSpPr>
          <p:cNvPr id="18" name="Rounded Rectangle 17"/>
          <p:cNvSpPr/>
          <p:nvPr/>
        </p:nvSpPr>
        <p:spPr>
          <a:xfrm>
            <a:off x="1143000" y="4745736"/>
            <a:ext cx="237744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818888"/>
            <a:ext cx="2377440" cy="137160"/>
          </a:xfrm>
          <a:prstGeom prst="rect">
            <a:avLst/>
          </a:prstGeom>
          <a:noFill/>
        </p:spPr>
        <p:txBody>
          <a:bodyPr wrap="square">
            <a:spAutoFit/>
          </a:bodyPr>
          <a:lstStyle/>
          <a:p>
            <a:pPr algn="l">
              <a:defRPr sz="900" b="1">
                <a:solidFill>
                  <a:srgbClr val="343A4E"/>
                </a:solidFill>
              </a:defRPr>
            </a:pPr>
            <a:r>
              <a:t>○ Shopping</a:t>
            </a:r>
          </a:p>
        </p:txBody>
      </p:sp>
      <p:sp>
        <p:nvSpPr>
          <p:cNvPr id="20" name="Rounded Rectangle 19"/>
          <p:cNvSpPr/>
          <p:nvPr/>
        </p:nvSpPr>
        <p:spPr>
          <a:xfrm>
            <a:off x="1143000" y="5184648"/>
            <a:ext cx="237744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257800"/>
            <a:ext cx="2377440" cy="137160"/>
          </a:xfrm>
          <a:prstGeom prst="rect">
            <a:avLst/>
          </a:prstGeom>
          <a:noFill/>
        </p:spPr>
        <p:txBody>
          <a:bodyPr wrap="square">
            <a:spAutoFit/>
          </a:bodyPr>
          <a:lstStyle/>
          <a:p>
            <a:pPr algn="l">
              <a:defRPr sz="900" b="1">
                <a:solidFill>
                  <a:srgbClr val="343A4E"/>
                </a:solidFill>
              </a:defRPr>
            </a:pPr>
            <a:r>
              <a:t>○ Other</a:t>
            </a:r>
          </a:p>
        </p:txBody>
      </p:sp>
      <p:sp>
        <p:nvSpPr>
          <p:cNvPr id="22" name="Rounded Rectangle 21"/>
          <p:cNvSpPr/>
          <p:nvPr/>
        </p:nvSpPr>
        <p:spPr>
          <a:xfrm>
            <a:off x="1143000" y="5897879"/>
            <a:ext cx="2377440" cy="384048"/>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6007607"/>
            <a:ext cx="2377440" cy="137160"/>
          </a:xfrm>
          <a:prstGeom prst="rect">
            <a:avLst/>
          </a:prstGeom>
          <a:noFill/>
        </p:spPr>
        <p:txBody>
          <a:bodyPr wrap="square">
            <a:spAutoFit/>
          </a:bodyPr>
          <a:lstStyle/>
          <a:p>
            <a:pPr algn="ctr">
              <a:defRPr sz="900" b="1">
                <a:solidFill>
                  <a:srgbClr val="FFFFFF"/>
                </a:solidFill>
              </a:defRPr>
            </a:pPr>
            <a:r>
              <a:t>CONFIRM &amp; SAVE</a:t>
            </a:r>
          </a:p>
        </p:txBody>
      </p:sp>
      <p:sp>
        <p:nvSpPr>
          <p:cNvPr id="24" name="Rounded Rectangle 23"/>
          <p:cNvSpPr/>
          <p:nvPr/>
        </p:nvSpPr>
        <p:spPr>
          <a:xfrm>
            <a:off x="4343400" y="1417320"/>
            <a:ext cx="6400800" cy="40233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737360"/>
            <a:ext cx="5760720" cy="320040"/>
          </a:xfrm>
          <a:prstGeom prst="rect">
            <a:avLst/>
          </a:prstGeom>
          <a:noFill/>
        </p:spPr>
        <p:txBody>
          <a:bodyPr wrap="square">
            <a:spAutoFit/>
          </a:bodyPr>
          <a:lstStyle/>
          <a:p>
            <a:pPr algn="l">
              <a:defRPr sz="1700" b="1">
                <a:solidFill>
                  <a:srgbClr val="5B43BE"/>
                </a:solidFill>
              </a:defRPr>
            </a:pPr>
            <a:r>
              <a:t>Automatic mode</a:t>
            </a:r>
          </a:p>
        </p:txBody>
      </p:sp>
      <p:sp>
        <p:nvSpPr>
          <p:cNvPr id="26" name="TextBox 25"/>
          <p:cNvSpPr txBox="1"/>
          <p:nvPr/>
        </p:nvSpPr>
        <p:spPr>
          <a:xfrm>
            <a:off x="4663440" y="2240280"/>
            <a:ext cx="5577840" cy="411480"/>
          </a:xfrm>
          <a:prstGeom prst="rect">
            <a:avLst/>
          </a:prstGeom>
          <a:noFill/>
        </p:spPr>
        <p:txBody>
          <a:bodyPr wrap="square">
            <a:spAutoFit/>
          </a:bodyPr>
          <a:lstStyle/>
          <a:p>
            <a:pPr algn="l">
              <a:defRPr sz="1700" b="0">
                <a:solidFill>
                  <a:srgbClr val="343A4E"/>
                </a:solidFill>
              </a:defRPr>
            </a:pPr>
            <a:r>
              <a:t>• Notification appears after payment.</a:t>
            </a:r>
          </a:p>
        </p:txBody>
      </p:sp>
      <p:sp>
        <p:nvSpPr>
          <p:cNvPr id="27" name="TextBox 26"/>
          <p:cNvSpPr txBox="1"/>
          <p:nvPr/>
        </p:nvSpPr>
        <p:spPr>
          <a:xfrm>
            <a:off x="4663440" y="2834640"/>
            <a:ext cx="5577840" cy="411480"/>
          </a:xfrm>
          <a:prstGeom prst="rect">
            <a:avLst/>
          </a:prstGeom>
          <a:noFill/>
        </p:spPr>
        <p:txBody>
          <a:bodyPr wrap="square">
            <a:spAutoFit/>
          </a:bodyPr>
          <a:lstStyle/>
          <a:p>
            <a:pPr algn="l">
              <a:defRPr sz="1700" b="0">
                <a:solidFill>
                  <a:srgbClr val="343A4E"/>
                </a:solidFill>
              </a:defRPr>
            </a:pPr>
            <a:r>
              <a:t>• App extracts amount and payee.</a:t>
            </a:r>
          </a:p>
        </p:txBody>
      </p:sp>
      <p:sp>
        <p:nvSpPr>
          <p:cNvPr id="28" name="TextBox 27"/>
          <p:cNvSpPr txBox="1"/>
          <p:nvPr/>
        </p:nvSpPr>
        <p:spPr>
          <a:xfrm>
            <a:off x="4663440" y="3429000"/>
            <a:ext cx="5577840" cy="411480"/>
          </a:xfrm>
          <a:prstGeom prst="rect">
            <a:avLst/>
          </a:prstGeom>
          <a:noFill/>
        </p:spPr>
        <p:txBody>
          <a:bodyPr wrap="square">
            <a:spAutoFit/>
          </a:bodyPr>
          <a:lstStyle/>
          <a:p>
            <a:pPr algn="l">
              <a:defRPr sz="1700" b="0">
                <a:solidFill>
                  <a:srgbClr val="343A4E"/>
                </a:solidFill>
              </a:defRPr>
            </a:pPr>
            <a:r>
              <a:t>• Category suggestion is displayed.</a:t>
            </a:r>
          </a:p>
        </p:txBody>
      </p:sp>
      <p:sp>
        <p:nvSpPr>
          <p:cNvPr id="29" name="TextBox 28"/>
          <p:cNvSpPr txBox="1"/>
          <p:nvPr/>
        </p:nvSpPr>
        <p:spPr>
          <a:xfrm>
            <a:off x="4663440" y="4023360"/>
            <a:ext cx="5577840" cy="411480"/>
          </a:xfrm>
          <a:prstGeom prst="rect">
            <a:avLst/>
          </a:prstGeom>
          <a:noFill/>
        </p:spPr>
        <p:txBody>
          <a:bodyPr wrap="square">
            <a:spAutoFit/>
          </a:bodyPr>
          <a:lstStyle/>
          <a:p>
            <a:pPr algn="l">
              <a:defRPr sz="1700" b="0">
                <a:solidFill>
                  <a:srgbClr val="343A4E"/>
                </a:solidFill>
              </a:defRPr>
            </a:pPr>
            <a:r>
              <a:t>• Student confirms or changes it.</a:t>
            </a:r>
          </a:p>
        </p:txBody>
      </p:sp>
      <p:sp>
        <p:nvSpPr>
          <p:cNvPr id="30" name="TextBox 29"/>
          <p:cNvSpPr txBox="1"/>
          <p:nvPr/>
        </p:nvSpPr>
        <p:spPr>
          <a:xfrm>
            <a:off x="4663440" y="4617720"/>
            <a:ext cx="5577840" cy="411480"/>
          </a:xfrm>
          <a:prstGeom prst="rect">
            <a:avLst/>
          </a:prstGeom>
          <a:noFill/>
        </p:spPr>
        <p:txBody>
          <a:bodyPr wrap="square">
            <a:spAutoFit/>
          </a:bodyPr>
          <a:lstStyle/>
          <a:p>
            <a:pPr algn="l">
              <a:defRPr sz="1700" b="0">
                <a:solidFill>
                  <a:srgbClr val="343A4E"/>
                </a:solidFill>
              </a:defRPr>
            </a:pPr>
            <a:r>
              <a:t>• Expense is saved and analytics refreshes.</a:t>
            </a:r>
          </a:p>
        </p:txBody>
      </p:sp>
      <p:sp>
        <p:nvSpPr>
          <p:cNvPr id="31" name="TextBox 30"/>
          <p:cNvSpPr txBox="1"/>
          <p:nvPr/>
        </p:nvSpPr>
        <p:spPr>
          <a:xfrm>
            <a:off x="4663440" y="5074920"/>
            <a:ext cx="5669280" cy="274320"/>
          </a:xfrm>
          <a:prstGeom prst="rect">
            <a:avLst/>
          </a:prstGeom>
          <a:noFill/>
        </p:spPr>
        <p:txBody>
          <a:bodyPr wrap="square">
            <a:spAutoFit/>
          </a:bodyPr>
          <a:lstStyle/>
          <a:p>
            <a:pPr algn="l">
              <a:defRPr sz="1200" b="1">
                <a:solidFill>
                  <a:srgbClr val="191E37"/>
                </a:solidFill>
              </a:defRPr>
            </a:pPr>
            <a:r>
              <a:t>Manual mode: user can enter amount, description, date and category directly.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Unknown Person? — The App Asks</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Instead of guessing, the student chooses the category.</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6</a:t>
            </a:r>
          </a:p>
        </p:txBody>
      </p:sp>
      <p:sp>
        <p:nvSpPr>
          <p:cNvPr id="6" name="Rounded Rectangle 5"/>
          <p:cNvSpPr/>
          <p:nvPr/>
        </p:nvSpPr>
        <p:spPr>
          <a:xfrm>
            <a:off x="914400" y="1143000"/>
            <a:ext cx="2926080" cy="544068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234440"/>
            <a:ext cx="2743200" cy="52578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645920"/>
            <a:ext cx="2468880" cy="274320"/>
          </a:xfrm>
          <a:prstGeom prst="rect">
            <a:avLst/>
          </a:prstGeom>
          <a:noFill/>
        </p:spPr>
        <p:txBody>
          <a:bodyPr wrap="square">
            <a:spAutoFit/>
          </a:bodyPr>
          <a:lstStyle/>
          <a:p>
            <a:pPr algn="l">
              <a:defRPr sz="1500" b="1">
                <a:solidFill>
                  <a:srgbClr val="191E37"/>
                </a:solidFill>
              </a:defRPr>
            </a:pPr>
            <a:r>
              <a:t>Transaction Detected</a:t>
            </a:r>
          </a:p>
        </p:txBody>
      </p:sp>
      <p:sp>
        <p:nvSpPr>
          <p:cNvPr id="9" name="TextBox 8"/>
          <p:cNvSpPr txBox="1"/>
          <p:nvPr/>
        </p:nvSpPr>
        <p:spPr>
          <a:xfrm>
            <a:off x="1143000" y="2103120"/>
            <a:ext cx="2468880" cy="228600"/>
          </a:xfrm>
          <a:prstGeom prst="rect">
            <a:avLst/>
          </a:prstGeom>
          <a:noFill/>
        </p:spPr>
        <p:txBody>
          <a:bodyPr wrap="square">
            <a:spAutoFit/>
          </a:bodyPr>
          <a:lstStyle/>
          <a:p>
            <a:pPr algn="l">
              <a:defRPr sz="900" b="0">
                <a:solidFill>
                  <a:srgbClr val="6E768A"/>
                </a:solidFill>
              </a:defRPr>
            </a:pPr>
            <a:r>
              <a:t>Paid to: Unknown Person</a:t>
            </a:r>
          </a:p>
        </p:txBody>
      </p:sp>
      <p:sp>
        <p:nvSpPr>
          <p:cNvPr id="10" name="TextBox 9"/>
          <p:cNvSpPr txBox="1"/>
          <p:nvPr/>
        </p:nvSpPr>
        <p:spPr>
          <a:xfrm>
            <a:off x="1143000" y="2441448"/>
            <a:ext cx="2468880" cy="365760"/>
          </a:xfrm>
          <a:prstGeom prst="rect">
            <a:avLst/>
          </a:prstGeom>
          <a:noFill/>
        </p:spPr>
        <p:txBody>
          <a:bodyPr wrap="square">
            <a:spAutoFit/>
          </a:bodyPr>
          <a:lstStyle/>
          <a:p>
            <a:pPr algn="ctr">
              <a:defRPr sz="2400" b="1">
                <a:solidFill>
                  <a:srgbClr val="191E37"/>
                </a:solidFill>
              </a:defRPr>
            </a:pPr>
            <a:r>
              <a:t>₹20</a:t>
            </a:r>
          </a:p>
        </p:txBody>
      </p:sp>
      <p:sp>
        <p:nvSpPr>
          <p:cNvPr id="11" name="TextBox 10"/>
          <p:cNvSpPr txBox="1"/>
          <p:nvPr/>
        </p:nvSpPr>
        <p:spPr>
          <a:xfrm>
            <a:off x="1143000" y="2971800"/>
            <a:ext cx="2468880" cy="228600"/>
          </a:xfrm>
          <a:prstGeom prst="rect">
            <a:avLst/>
          </a:prstGeom>
          <a:noFill/>
        </p:spPr>
        <p:txBody>
          <a:bodyPr wrap="square">
            <a:spAutoFit/>
          </a:bodyPr>
          <a:lstStyle/>
          <a:p>
            <a:pPr algn="ctr">
              <a:defRPr sz="1000" b="1">
                <a:solidFill>
                  <a:srgbClr val="343A4E"/>
                </a:solidFill>
              </a:defRPr>
            </a:pPr>
            <a:r>
              <a:t>What is this expense for?</a:t>
            </a:r>
          </a:p>
        </p:txBody>
      </p:sp>
      <p:sp>
        <p:nvSpPr>
          <p:cNvPr id="12" name="Rounded Rectangle 11"/>
          <p:cNvSpPr/>
          <p:nvPr/>
        </p:nvSpPr>
        <p:spPr>
          <a:xfrm>
            <a:off x="1143000" y="3383280"/>
            <a:ext cx="2468880" cy="320040"/>
          </a:xfrm>
          <a:prstGeom prst="roundRect">
            <a:avLst/>
          </a:prstGeom>
          <a:solidFill>
            <a:srgbClr val="EFEBFF"/>
          </a:solidFill>
          <a:ln>
            <a:solidFill>
              <a:srgbClr val="EF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456432"/>
            <a:ext cx="2468880" cy="137160"/>
          </a:xfrm>
          <a:prstGeom prst="rect">
            <a:avLst/>
          </a:prstGeom>
          <a:noFill/>
        </p:spPr>
        <p:txBody>
          <a:bodyPr wrap="square">
            <a:spAutoFit/>
          </a:bodyPr>
          <a:lstStyle/>
          <a:p>
            <a:pPr algn="l">
              <a:defRPr sz="900" b="1">
                <a:solidFill>
                  <a:srgbClr val="5B43BE"/>
                </a:solidFill>
              </a:defRPr>
            </a:pPr>
            <a:r>
              <a:t>● Travel</a:t>
            </a:r>
          </a:p>
        </p:txBody>
      </p:sp>
      <p:sp>
        <p:nvSpPr>
          <p:cNvPr id="14" name="Rounded Rectangle 13"/>
          <p:cNvSpPr/>
          <p:nvPr/>
        </p:nvSpPr>
        <p:spPr>
          <a:xfrm>
            <a:off x="1143000" y="3822191"/>
            <a:ext cx="246888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895344"/>
            <a:ext cx="2468880" cy="137160"/>
          </a:xfrm>
          <a:prstGeom prst="rect">
            <a:avLst/>
          </a:prstGeom>
          <a:noFill/>
        </p:spPr>
        <p:txBody>
          <a:bodyPr wrap="square">
            <a:spAutoFit/>
          </a:bodyPr>
          <a:lstStyle/>
          <a:p>
            <a:pPr algn="l">
              <a:defRPr sz="900" b="1">
                <a:solidFill>
                  <a:srgbClr val="343A4E"/>
                </a:solidFill>
              </a:defRPr>
            </a:pPr>
            <a:r>
              <a:t>○ Food</a:t>
            </a:r>
          </a:p>
        </p:txBody>
      </p:sp>
      <p:sp>
        <p:nvSpPr>
          <p:cNvPr id="16" name="Rounded Rectangle 15"/>
          <p:cNvSpPr/>
          <p:nvPr/>
        </p:nvSpPr>
        <p:spPr>
          <a:xfrm>
            <a:off x="1143000" y="4261104"/>
            <a:ext cx="246888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334256"/>
            <a:ext cx="2468880" cy="137160"/>
          </a:xfrm>
          <a:prstGeom prst="rect">
            <a:avLst/>
          </a:prstGeom>
          <a:noFill/>
        </p:spPr>
        <p:txBody>
          <a:bodyPr wrap="square">
            <a:spAutoFit/>
          </a:bodyPr>
          <a:lstStyle/>
          <a:p>
            <a:pPr algn="l">
              <a:defRPr sz="900" b="1">
                <a:solidFill>
                  <a:srgbClr val="343A4E"/>
                </a:solidFill>
              </a:defRPr>
            </a:pPr>
            <a:r>
              <a:t>○ Education</a:t>
            </a:r>
          </a:p>
        </p:txBody>
      </p:sp>
      <p:sp>
        <p:nvSpPr>
          <p:cNvPr id="18" name="Rounded Rectangle 17"/>
          <p:cNvSpPr/>
          <p:nvPr/>
        </p:nvSpPr>
        <p:spPr>
          <a:xfrm>
            <a:off x="1143000" y="4700016"/>
            <a:ext cx="246888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773168"/>
            <a:ext cx="2468880" cy="137160"/>
          </a:xfrm>
          <a:prstGeom prst="rect">
            <a:avLst/>
          </a:prstGeom>
          <a:noFill/>
        </p:spPr>
        <p:txBody>
          <a:bodyPr wrap="square">
            <a:spAutoFit/>
          </a:bodyPr>
          <a:lstStyle/>
          <a:p>
            <a:pPr algn="l">
              <a:defRPr sz="900" b="1">
                <a:solidFill>
                  <a:srgbClr val="343A4E"/>
                </a:solidFill>
              </a:defRPr>
            </a:pPr>
            <a:r>
              <a:t>○ Shopping</a:t>
            </a:r>
          </a:p>
        </p:txBody>
      </p:sp>
      <p:sp>
        <p:nvSpPr>
          <p:cNvPr id="20" name="Rounded Rectangle 19"/>
          <p:cNvSpPr/>
          <p:nvPr/>
        </p:nvSpPr>
        <p:spPr>
          <a:xfrm>
            <a:off x="1143000" y="5138928"/>
            <a:ext cx="2468880" cy="32004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5212080"/>
            <a:ext cx="2468880" cy="137160"/>
          </a:xfrm>
          <a:prstGeom prst="rect">
            <a:avLst/>
          </a:prstGeom>
          <a:noFill/>
        </p:spPr>
        <p:txBody>
          <a:bodyPr wrap="square">
            <a:spAutoFit/>
          </a:bodyPr>
          <a:lstStyle/>
          <a:p>
            <a:pPr algn="l">
              <a:defRPr sz="900" b="1">
                <a:solidFill>
                  <a:srgbClr val="343A4E"/>
                </a:solidFill>
              </a:defRPr>
            </a:pPr>
            <a:r>
              <a:t>○ Other</a:t>
            </a:r>
          </a:p>
        </p:txBody>
      </p:sp>
      <p:sp>
        <p:nvSpPr>
          <p:cNvPr id="22" name="Rounded Rectangle 21"/>
          <p:cNvSpPr/>
          <p:nvPr/>
        </p:nvSpPr>
        <p:spPr>
          <a:xfrm>
            <a:off x="1143000" y="5989320"/>
            <a:ext cx="2468880" cy="384048"/>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6099048"/>
            <a:ext cx="2468880" cy="137160"/>
          </a:xfrm>
          <a:prstGeom prst="rect">
            <a:avLst/>
          </a:prstGeom>
          <a:noFill/>
        </p:spPr>
        <p:txBody>
          <a:bodyPr wrap="square">
            <a:spAutoFit/>
          </a:bodyPr>
          <a:lstStyle/>
          <a:p>
            <a:pPr algn="ctr">
              <a:defRPr sz="900" b="1">
                <a:solidFill>
                  <a:srgbClr val="FFFFFF"/>
                </a:solidFill>
              </a:defRPr>
            </a:pPr>
            <a:r>
              <a:t>CONFIRM &amp; SAVE</a:t>
            </a:r>
          </a:p>
        </p:txBody>
      </p:sp>
      <p:sp>
        <p:nvSpPr>
          <p:cNvPr id="24" name="Rounded Rectangle 23"/>
          <p:cNvSpPr/>
          <p:nvPr/>
        </p:nvSpPr>
        <p:spPr>
          <a:xfrm>
            <a:off x="4297680" y="1417320"/>
            <a:ext cx="6583680" cy="43891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783080"/>
            <a:ext cx="5852160" cy="320040"/>
          </a:xfrm>
          <a:prstGeom prst="rect">
            <a:avLst/>
          </a:prstGeom>
          <a:noFill/>
        </p:spPr>
        <p:txBody>
          <a:bodyPr wrap="square">
            <a:spAutoFit/>
          </a:bodyPr>
          <a:lstStyle/>
          <a:p>
            <a:pPr algn="l">
              <a:defRPr sz="1800" b="1">
                <a:solidFill>
                  <a:srgbClr val="5B43BE"/>
                </a:solidFill>
              </a:defRPr>
            </a:pPr>
            <a:r>
              <a:t>Question shown by the app</a:t>
            </a:r>
          </a:p>
        </p:txBody>
      </p:sp>
      <p:sp>
        <p:nvSpPr>
          <p:cNvPr id="26" name="TextBox 25"/>
          <p:cNvSpPr txBox="1"/>
          <p:nvPr/>
        </p:nvSpPr>
        <p:spPr>
          <a:xfrm>
            <a:off x="4663440" y="2331720"/>
            <a:ext cx="5669280" cy="685800"/>
          </a:xfrm>
          <a:prstGeom prst="rect">
            <a:avLst/>
          </a:prstGeom>
          <a:noFill/>
        </p:spPr>
        <p:txBody>
          <a:bodyPr wrap="square">
            <a:spAutoFit/>
          </a:bodyPr>
          <a:lstStyle/>
          <a:p>
            <a:pPr algn="l">
              <a:defRPr sz="2000" b="1">
                <a:solidFill>
                  <a:srgbClr val="191E37"/>
                </a:solidFill>
              </a:defRPr>
            </a:pPr>
            <a:r>
              <a:t>“We detected a payment to an unknown person. What was this expense for?”</a:t>
            </a:r>
          </a:p>
        </p:txBody>
      </p:sp>
      <p:sp>
        <p:nvSpPr>
          <p:cNvPr id="27" name="Rounded Rectangle 26"/>
          <p:cNvSpPr/>
          <p:nvPr/>
        </p:nvSpPr>
        <p:spPr>
          <a:xfrm>
            <a:off x="4663440" y="3291840"/>
            <a:ext cx="1645920" cy="502920"/>
          </a:xfrm>
          <a:prstGeom prst="roundRect">
            <a:avLst/>
          </a:prstGeom>
          <a:solidFill>
            <a:srgbClr val="EFEBFF"/>
          </a:solidFill>
          <a:ln>
            <a:solidFill>
              <a:srgbClr val="EF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3447288"/>
            <a:ext cx="1645920" cy="146304"/>
          </a:xfrm>
          <a:prstGeom prst="rect">
            <a:avLst/>
          </a:prstGeom>
          <a:noFill/>
        </p:spPr>
        <p:txBody>
          <a:bodyPr wrap="square">
            <a:spAutoFit/>
          </a:bodyPr>
          <a:lstStyle/>
          <a:p>
            <a:pPr algn="ctr">
              <a:defRPr sz="1000" b="1">
                <a:solidFill>
                  <a:srgbClr val="5B43BE"/>
                </a:solidFill>
              </a:defRPr>
            </a:pPr>
            <a:r>
              <a:t>Travel</a:t>
            </a:r>
          </a:p>
        </p:txBody>
      </p:sp>
      <p:sp>
        <p:nvSpPr>
          <p:cNvPr id="29" name="Rounded Rectangle 28"/>
          <p:cNvSpPr/>
          <p:nvPr/>
        </p:nvSpPr>
        <p:spPr>
          <a:xfrm>
            <a:off x="6583679" y="3291840"/>
            <a:ext cx="1645920" cy="50292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79" y="3447288"/>
            <a:ext cx="1645920" cy="146304"/>
          </a:xfrm>
          <a:prstGeom prst="rect">
            <a:avLst/>
          </a:prstGeom>
          <a:noFill/>
        </p:spPr>
        <p:txBody>
          <a:bodyPr wrap="square">
            <a:spAutoFit/>
          </a:bodyPr>
          <a:lstStyle/>
          <a:p>
            <a:pPr algn="ctr">
              <a:defRPr sz="1000" b="1">
                <a:solidFill>
                  <a:srgbClr val="343A4E"/>
                </a:solidFill>
              </a:defRPr>
            </a:pPr>
            <a:r>
              <a:t>Food</a:t>
            </a:r>
          </a:p>
        </p:txBody>
      </p:sp>
      <p:sp>
        <p:nvSpPr>
          <p:cNvPr id="31" name="Rounded Rectangle 30"/>
          <p:cNvSpPr/>
          <p:nvPr/>
        </p:nvSpPr>
        <p:spPr>
          <a:xfrm>
            <a:off x="8503920" y="3291840"/>
            <a:ext cx="1645920" cy="50292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0" y="3447288"/>
            <a:ext cx="1645920" cy="146304"/>
          </a:xfrm>
          <a:prstGeom prst="rect">
            <a:avLst/>
          </a:prstGeom>
          <a:noFill/>
        </p:spPr>
        <p:txBody>
          <a:bodyPr wrap="square">
            <a:spAutoFit/>
          </a:bodyPr>
          <a:lstStyle/>
          <a:p>
            <a:pPr algn="ctr">
              <a:defRPr sz="1000" b="1">
                <a:solidFill>
                  <a:srgbClr val="343A4E"/>
                </a:solidFill>
              </a:defRPr>
            </a:pPr>
            <a:r>
              <a:t>Education</a:t>
            </a:r>
          </a:p>
        </p:txBody>
      </p:sp>
      <p:sp>
        <p:nvSpPr>
          <p:cNvPr id="33" name="Rounded Rectangle 32"/>
          <p:cNvSpPr/>
          <p:nvPr/>
        </p:nvSpPr>
        <p:spPr>
          <a:xfrm>
            <a:off x="4663440" y="4069080"/>
            <a:ext cx="1645920" cy="50292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4224528"/>
            <a:ext cx="1645920" cy="146304"/>
          </a:xfrm>
          <a:prstGeom prst="rect">
            <a:avLst/>
          </a:prstGeom>
          <a:noFill/>
        </p:spPr>
        <p:txBody>
          <a:bodyPr wrap="square">
            <a:spAutoFit/>
          </a:bodyPr>
          <a:lstStyle/>
          <a:p>
            <a:pPr algn="ctr">
              <a:defRPr sz="1000" b="1">
                <a:solidFill>
                  <a:srgbClr val="343A4E"/>
                </a:solidFill>
              </a:defRPr>
            </a:pPr>
            <a:r>
              <a:t>Shopping</a:t>
            </a:r>
          </a:p>
        </p:txBody>
      </p:sp>
      <p:sp>
        <p:nvSpPr>
          <p:cNvPr id="35" name="Rounded Rectangle 34"/>
          <p:cNvSpPr/>
          <p:nvPr/>
        </p:nvSpPr>
        <p:spPr>
          <a:xfrm>
            <a:off x="6583679" y="4069080"/>
            <a:ext cx="1645920" cy="50292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79" y="4224528"/>
            <a:ext cx="1645920" cy="146304"/>
          </a:xfrm>
          <a:prstGeom prst="rect">
            <a:avLst/>
          </a:prstGeom>
          <a:noFill/>
        </p:spPr>
        <p:txBody>
          <a:bodyPr wrap="square">
            <a:spAutoFit/>
          </a:bodyPr>
          <a:lstStyle/>
          <a:p>
            <a:pPr algn="ctr">
              <a:defRPr sz="1000" b="1">
                <a:solidFill>
                  <a:srgbClr val="343A4E"/>
                </a:solidFill>
              </a:defRPr>
            </a:pPr>
            <a:r>
              <a:t>Recharge</a:t>
            </a:r>
          </a:p>
        </p:txBody>
      </p:sp>
      <p:sp>
        <p:nvSpPr>
          <p:cNvPr id="37" name="Rounded Rectangle 36"/>
          <p:cNvSpPr/>
          <p:nvPr/>
        </p:nvSpPr>
        <p:spPr>
          <a:xfrm>
            <a:off x="8503920" y="4069080"/>
            <a:ext cx="1645920" cy="502920"/>
          </a:xfrm>
          <a:prstGeom prst="roundRect">
            <a:avLst/>
          </a:prstGeom>
          <a:solidFill>
            <a:srgbClr val="F7F8FC"/>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0" y="4224528"/>
            <a:ext cx="1645920" cy="146304"/>
          </a:xfrm>
          <a:prstGeom prst="rect">
            <a:avLst/>
          </a:prstGeom>
          <a:noFill/>
        </p:spPr>
        <p:txBody>
          <a:bodyPr wrap="square">
            <a:spAutoFit/>
          </a:bodyPr>
          <a:lstStyle/>
          <a:p>
            <a:pPr algn="ctr">
              <a:defRPr sz="1000" b="1">
                <a:solidFill>
                  <a:srgbClr val="343A4E"/>
                </a:solidFill>
              </a:defRPr>
            </a:pPr>
            <a:r>
              <a:t>Other</a:t>
            </a:r>
          </a:p>
        </p:txBody>
      </p:sp>
      <p:sp>
        <p:nvSpPr>
          <p:cNvPr id="39" name="TextBox 38"/>
          <p:cNvSpPr txBox="1"/>
          <p:nvPr/>
        </p:nvSpPr>
        <p:spPr>
          <a:xfrm>
            <a:off x="4663440" y="4983480"/>
            <a:ext cx="5669280" cy="320040"/>
          </a:xfrm>
          <a:prstGeom prst="rect">
            <a:avLst/>
          </a:prstGeom>
          <a:noFill/>
        </p:spPr>
        <p:txBody>
          <a:bodyPr wrap="square">
            <a:spAutoFit/>
          </a:bodyPr>
          <a:lstStyle/>
          <a:p>
            <a:pPr algn="l">
              <a:defRPr sz="1300" b="1">
                <a:solidFill>
                  <a:srgbClr val="27A46F"/>
                </a:solidFill>
              </a:defRPr>
            </a:pPr>
            <a:r>
              <a:t>After selection → Confirm → Save → Include in reports.</a:t>
            </a:r>
          </a:p>
        </p:txBody>
      </p:sp>
      <p:pic>
        <p:nvPicPr>
          <p:cNvPr id="40" name="Picture 39" descr="a_wide_infographic_mockup_ui_design_presentation.png"/>
          <p:cNvPicPr>
            <a:picLocks noChangeAspect="1"/>
          </p:cNvPicPr>
          <p:nvPr/>
        </p:nvPicPr>
        <p:blipFill>
          <a:blip r:embed="rId2"/>
          <a:stretch>
            <a:fillRect/>
          </a:stretch>
        </p:blipFill>
        <p:spPr>
          <a:xfrm>
            <a:off x="9464040" y="5257800"/>
            <a:ext cx="2148840" cy="12070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Category Detection Logic</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Known = suggest • Unknown = ask</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7</a:t>
            </a:r>
          </a:p>
        </p:txBody>
      </p:sp>
      <p:sp>
        <p:nvSpPr>
          <p:cNvPr id="6" name="Rounded Rectangle 5"/>
          <p:cNvSpPr/>
          <p:nvPr/>
        </p:nvSpPr>
        <p:spPr>
          <a:xfrm>
            <a:off x="731520" y="1325880"/>
            <a:ext cx="475488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206240" cy="228600"/>
          </a:xfrm>
          <a:prstGeom prst="rect">
            <a:avLst/>
          </a:prstGeom>
          <a:noFill/>
        </p:spPr>
        <p:txBody>
          <a:bodyPr wrap="square">
            <a:spAutoFit/>
          </a:bodyPr>
          <a:lstStyle/>
          <a:p>
            <a:pPr algn="l">
              <a:defRPr sz="1200" b="1">
                <a:solidFill>
                  <a:srgbClr val="191E37"/>
                </a:solidFill>
              </a:defRPr>
            </a:pPr>
            <a:r>
              <a:t>Auto / Taxi / Ola / Uber</a:t>
            </a:r>
          </a:p>
        </p:txBody>
      </p:sp>
      <p:sp>
        <p:nvSpPr>
          <p:cNvPr id="8" name="Rounded Rectangle 7"/>
          <p:cNvSpPr/>
          <p:nvPr/>
        </p:nvSpPr>
        <p:spPr>
          <a:xfrm>
            <a:off x="5715000" y="1325880"/>
            <a:ext cx="274320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0" y="1508760"/>
            <a:ext cx="2743200" cy="228600"/>
          </a:xfrm>
          <a:prstGeom prst="rect">
            <a:avLst/>
          </a:prstGeom>
          <a:noFill/>
        </p:spPr>
        <p:txBody>
          <a:bodyPr wrap="square">
            <a:spAutoFit/>
          </a:bodyPr>
          <a:lstStyle/>
          <a:p>
            <a:pPr algn="ctr">
              <a:defRPr sz="1200" b="1">
                <a:solidFill>
                  <a:srgbClr val="5B43BE"/>
                </a:solidFill>
              </a:defRPr>
            </a:pPr>
            <a:r>
              <a:t>Travel</a:t>
            </a:r>
          </a:p>
        </p:txBody>
      </p:sp>
      <p:sp>
        <p:nvSpPr>
          <p:cNvPr id="10" name="Rounded Rectangle 9"/>
          <p:cNvSpPr/>
          <p:nvPr/>
        </p:nvSpPr>
        <p:spPr>
          <a:xfrm>
            <a:off x="731520" y="2286000"/>
            <a:ext cx="475488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68880"/>
            <a:ext cx="4206240" cy="228600"/>
          </a:xfrm>
          <a:prstGeom prst="rect">
            <a:avLst/>
          </a:prstGeom>
          <a:noFill/>
        </p:spPr>
        <p:txBody>
          <a:bodyPr wrap="square">
            <a:spAutoFit/>
          </a:bodyPr>
          <a:lstStyle/>
          <a:p>
            <a:pPr algn="l">
              <a:defRPr sz="1200" b="1">
                <a:solidFill>
                  <a:srgbClr val="191E37"/>
                </a:solidFill>
              </a:defRPr>
            </a:pPr>
            <a:r>
              <a:t>Canteen / Restaurant</a:t>
            </a:r>
          </a:p>
        </p:txBody>
      </p:sp>
      <p:sp>
        <p:nvSpPr>
          <p:cNvPr id="12" name="Rounded Rectangle 11"/>
          <p:cNvSpPr/>
          <p:nvPr/>
        </p:nvSpPr>
        <p:spPr>
          <a:xfrm>
            <a:off x="5715000" y="2286000"/>
            <a:ext cx="274320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2468880"/>
            <a:ext cx="2743200" cy="228600"/>
          </a:xfrm>
          <a:prstGeom prst="rect">
            <a:avLst/>
          </a:prstGeom>
          <a:noFill/>
        </p:spPr>
        <p:txBody>
          <a:bodyPr wrap="square">
            <a:spAutoFit/>
          </a:bodyPr>
          <a:lstStyle/>
          <a:p>
            <a:pPr algn="ctr">
              <a:defRPr sz="1200" b="1">
                <a:solidFill>
                  <a:srgbClr val="5B43BE"/>
                </a:solidFill>
              </a:defRPr>
            </a:pPr>
            <a:r>
              <a:t>Food</a:t>
            </a:r>
          </a:p>
        </p:txBody>
      </p:sp>
      <p:sp>
        <p:nvSpPr>
          <p:cNvPr id="14" name="Rounded Rectangle 13"/>
          <p:cNvSpPr/>
          <p:nvPr/>
        </p:nvSpPr>
        <p:spPr>
          <a:xfrm>
            <a:off x="731520" y="3246120"/>
            <a:ext cx="475488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429000"/>
            <a:ext cx="4206240" cy="228600"/>
          </a:xfrm>
          <a:prstGeom prst="rect">
            <a:avLst/>
          </a:prstGeom>
          <a:noFill/>
        </p:spPr>
        <p:txBody>
          <a:bodyPr wrap="square">
            <a:spAutoFit/>
          </a:bodyPr>
          <a:lstStyle/>
          <a:p>
            <a:pPr algn="l">
              <a:defRPr sz="1200" b="1">
                <a:solidFill>
                  <a:srgbClr val="191E37"/>
                </a:solidFill>
              </a:defRPr>
            </a:pPr>
            <a:r>
              <a:t>College / Book Store</a:t>
            </a:r>
          </a:p>
        </p:txBody>
      </p:sp>
      <p:sp>
        <p:nvSpPr>
          <p:cNvPr id="16" name="Rounded Rectangle 15"/>
          <p:cNvSpPr/>
          <p:nvPr/>
        </p:nvSpPr>
        <p:spPr>
          <a:xfrm>
            <a:off x="5715000" y="3246120"/>
            <a:ext cx="274320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0" y="3429000"/>
            <a:ext cx="2743200" cy="228600"/>
          </a:xfrm>
          <a:prstGeom prst="rect">
            <a:avLst/>
          </a:prstGeom>
          <a:noFill/>
        </p:spPr>
        <p:txBody>
          <a:bodyPr wrap="square">
            <a:spAutoFit/>
          </a:bodyPr>
          <a:lstStyle/>
          <a:p>
            <a:pPr algn="ctr">
              <a:defRPr sz="1200" b="1">
                <a:solidFill>
                  <a:srgbClr val="5B43BE"/>
                </a:solidFill>
              </a:defRPr>
            </a:pPr>
            <a:r>
              <a:t>Education</a:t>
            </a:r>
          </a:p>
        </p:txBody>
      </p:sp>
      <p:sp>
        <p:nvSpPr>
          <p:cNvPr id="18" name="Rounded Rectangle 17"/>
          <p:cNvSpPr/>
          <p:nvPr/>
        </p:nvSpPr>
        <p:spPr>
          <a:xfrm>
            <a:off x="731520" y="4206240"/>
            <a:ext cx="475488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389120"/>
            <a:ext cx="4206240" cy="228600"/>
          </a:xfrm>
          <a:prstGeom prst="rect">
            <a:avLst/>
          </a:prstGeom>
          <a:noFill/>
        </p:spPr>
        <p:txBody>
          <a:bodyPr wrap="square">
            <a:spAutoFit/>
          </a:bodyPr>
          <a:lstStyle/>
          <a:p>
            <a:pPr algn="l">
              <a:defRPr sz="1200" b="1">
                <a:solidFill>
                  <a:srgbClr val="191E37"/>
                </a:solidFill>
              </a:defRPr>
            </a:pPr>
            <a:r>
              <a:t>Shopping merchant</a:t>
            </a:r>
          </a:p>
        </p:txBody>
      </p:sp>
      <p:sp>
        <p:nvSpPr>
          <p:cNvPr id="20" name="Rounded Rectangle 19"/>
          <p:cNvSpPr/>
          <p:nvPr/>
        </p:nvSpPr>
        <p:spPr>
          <a:xfrm>
            <a:off x="5715000" y="4206240"/>
            <a:ext cx="274320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5000" y="4389120"/>
            <a:ext cx="2743200" cy="228600"/>
          </a:xfrm>
          <a:prstGeom prst="rect">
            <a:avLst/>
          </a:prstGeom>
          <a:noFill/>
        </p:spPr>
        <p:txBody>
          <a:bodyPr wrap="square">
            <a:spAutoFit/>
          </a:bodyPr>
          <a:lstStyle/>
          <a:p>
            <a:pPr algn="ctr">
              <a:defRPr sz="1200" b="1">
                <a:solidFill>
                  <a:srgbClr val="5B43BE"/>
                </a:solidFill>
              </a:defRPr>
            </a:pPr>
            <a:r>
              <a:t>Shopping</a:t>
            </a:r>
          </a:p>
        </p:txBody>
      </p:sp>
      <p:sp>
        <p:nvSpPr>
          <p:cNvPr id="22" name="Rounded Rectangle 21"/>
          <p:cNvSpPr/>
          <p:nvPr/>
        </p:nvSpPr>
        <p:spPr>
          <a:xfrm>
            <a:off x="731520" y="5166360"/>
            <a:ext cx="4754880" cy="65836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349240"/>
            <a:ext cx="4206240" cy="228600"/>
          </a:xfrm>
          <a:prstGeom prst="rect">
            <a:avLst/>
          </a:prstGeom>
          <a:noFill/>
        </p:spPr>
        <p:txBody>
          <a:bodyPr wrap="square">
            <a:spAutoFit/>
          </a:bodyPr>
          <a:lstStyle/>
          <a:p>
            <a:pPr algn="l">
              <a:defRPr sz="1200" b="1">
                <a:solidFill>
                  <a:srgbClr val="191E37"/>
                </a:solidFill>
              </a:defRPr>
            </a:pPr>
            <a:r>
              <a:t>Unknown person</a:t>
            </a:r>
          </a:p>
        </p:txBody>
      </p:sp>
      <p:sp>
        <p:nvSpPr>
          <p:cNvPr id="24" name="Rounded Rectangle 23"/>
          <p:cNvSpPr/>
          <p:nvPr/>
        </p:nvSpPr>
        <p:spPr>
          <a:xfrm>
            <a:off x="5715000" y="5166360"/>
            <a:ext cx="2743200" cy="658368"/>
          </a:xfrm>
          <a:prstGeom prst="roundRect">
            <a:avLst/>
          </a:prstGeom>
          <a:solidFill>
            <a:srgbClr val="EFEB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5349240"/>
            <a:ext cx="2743200" cy="228600"/>
          </a:xfrm>
          <a:prstGeom prst="rect">
            <a:avLst/>
          </a:prstGeom>
          <a:noFill/>
        </p:spPr>
        <p:txBody>
          <a:bodyPr wrap="square">
            <a:spAutoFit/>
          </a:bodyPr>
          <a:lstStyle/>
          <a:p>
            <a:pPr algn="ctr">
              <a:defRPr sz="1200" b="1">
                <a:solidFill>
                  <a:srgbClr val="5B43BE"/>
                </a:solidFill>
              </a:defRPr>
            </a:pPr>
            <a:r>
              <a:t>Ask user</a:t>
            </a:r>
          </a:p>
        </p:txBody>
      </p:sp>
      <p:sp>
        <p:nvSpPr>
          <p:cNvPr id="26" name="TextBox 25"/>
          <p:cNvSpPr txBox="1"/>
          <p:nvPr/>
        </p:nvSpPr>
        <p:spPr>
          <a:xfrm>
            <a:off x="8778240" y="1554480"/>
            <a:ext cx="2286000" cy="3474720"/>
          </a:xfrm>
          <a:prstGeom prst="rect">
            <a:avLst/>
          </a:prstGeom>
          <a:noFill/>
        </p:spPr>
        <p:txBody>
          <a:bodyPr wrap="square">
            <a:spAutoFit/>
          </a:bodyPr>
          <a:lstStyle/>
          <a:p>
            <a:pPr algn="ctr">
              <a:defRPr sz="1500" b="1">
                <a:solidFill>
                  <a:srgbClr val="191E37"/>
                </a:solidFill>
              </a:defRPr>
            </a:pPr>
            <a:r>
              <a:t>Important:</a:t>
            </a:r>
            <a:br/>
            <a:br/>
            <a:r>
              <a:t>The app should not blindly assume the purpose of an unknown payment.</a:t>
            </a:r>
            <a:br/>
            <a:br/>
            <a:r>
              <a:t>User confirmation prevents wrong categories.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Dashboard &amp; Graphs</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Where the student sees the final analysis</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8</a:t>
            </a:r>
          </a:p>
        </p:txBody>
      </p:sp>
      <p:sp>
        <p:nvSpPr>
          <p:cNvPr id="6" name="Rounded Rectangle 5"/>
          <p:cNvSpPr/>
          <p:nvPr/>
        </p:nvSpPr>
        <p:spPr>
          <a:xfrm>
            <a:off x="640080" y="1143000"/>
            <a:ext cx="2743200" cy="5394960"/>
          </a:xfrm>
          <a:prstGeom prst="roundRect">
            <a:avLst/>
          </a:prstGeom>
          <a:solidFill>
            <a:srgbClr val="191E37"/>
          </a:solidFill>
          <a:ln>
            <a:solidFill>
              <a:srgbClr val="191E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19" y="1234440"/>
            <a:ext cx="2560320" cy="52120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2286000" cy="274320"/>
          </a:xfrm>
          <a:prstGeom prst="rect">
            <a:avLst/>
          </a:prstGeom>
          <a:noFill/>
        </p:spPr>
        <p:txBody>
          <a:bodyPr wrap="square">
            <a:spAutoFit/>
          </a:bodyPr>
          <a:lstStyle/>
          <a:p>
            <a:pPr algn="l">
              <a:defRPr sz="1400" b="1">
                <a:solidFill>
                  <a:srgbClr val="191E37"/>
                </a:solidFill>
              </a:defRPr>
            </a:pPr>
            <a:r>
              <a:t>Hi, Student 👋</a:t>
            </a:r>
          </a:p>
        </p:txBody>
      </p:sp>
      <p:sp>
        <p:nvSpPr>
          <p:cNvPr id="9" name="Rounded Rectangle 8"/>
          <p:cNvSpPr/>
          <p:nvPr/>
        </p:nvSpPr>
        <p:spPr>
          <a:xfrm>
            <a:off x="868680" y="2057400"/>
            <a:ext cx="2286000" cy="914400"/>
          </a:xfrm>
          <a:prstGeom prst="roundRect">
            <a:avLst/>
          </a:prstGeom>
          <a:solidFill>
            <a:srgbClr val="5B43BE"/>
          </a:solidFill>
          <a:ln>
            <a:solidFill>
              <a:srgbClr val="5B4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40280"/>
            <a:ext cx="2011680" cy="164592"/>
          </a:xfrm>
          <a:prstGeom prst="rect">
            <a:avLst/>
          </a:prstGeom>
          <a:noFill/>
        </p:spPr>
        <p:txBody>
          <a:bodyPr wrap="square">
            <a:spAutoFit/>
          </a:bodyPr>
          <a:lstStyle/>
          <a:p>
            <a:pPr algn="l">
              <a:defRPr sz="800" b="0">
                <a:solidFill>
                  <a:srgbClr val="FFFFFF"/>
                </a:solidFill>
              </a:defRPr>
            </a:pPr>
            <a:r>
              <a:t>THIS MONTH</a:t>
            </a:r>
          </a:p>
        </p:txBody>
      </p:sp>
      <p:sp>
        <p:nvSpPr>
          <p:cNvPr id="11" name="TextBox 10"/>
          <p:cNvSpPr txBox="1"/>
          <p:nvPr/>
        </p:nvSpPr>
        <p:spPr>
          <a:xfrm>
            <a:off x="1005840" y="2496312"/>
            <a:ext cx="2011680" cy="274320"/>
          </a:xfrm>
          <a:prstGeom prst="rect">
            <a:avLst/>
          </a:prstGeom>
          <a:noFill/>
        </p:spPr>
        <p:txBody>
          <a:bodyPr wrap="square">
            <a:spAutoFit/>
          </a:bodyPr>
          <a:lstStyle/>
          <a:p>
            <a:pPr algn="l">
              <a:defRPr sz="2200" b="1">
                <a:solidFill>
                  <a:srgbClr val="FFFFFF"/>
                </a:solidFill>
              </a:defRPr>
            </a:pPr>
            <a:r>
              <a:t>₹6,250</a:t>
            </a:r>
          </a:p>
        </p:txBody>
      </p:sp>
      <p:sp>
        <p:nvSpPr>
          <p:cNvPr id="12" name="TextBox 11"/>
          <p:cNvSpPr txBox="1"/>
          <p:nvPr/>
        </p:nvSpPr>
        <p:spPr>
          <a:xfrm>
            <a:off x="868680" y="3291840"/>
            <a:ext cx="2286000" cy="228600"/>
          </a:xfrm>
          <a:prstGeom prst="rect">
            <a:avLst/>
          </a:prstGeom>
          <a:noFill/>
        </p:spPr>
        <p:txBody>
          <a:bodyPr wrap="square">
            <a:spAutoFit/>
          </a:bodyPr>
          <a:lstStyle/>
          <a:p>
            <a:pPr algn="l">
              <a:defRPr sz="1100" b="1">
                <a:solidFill>
                  <a:srgbClr val="191E37"/>
                </a:solidFill>
              </a:defRPr>
            </a:pPr>
            <a:r>
              <a:t>Top Categories</a:t>
            </a:r>
          </a:p>
        </p:txBody>
      </p:sp>
      <p:sp>
        <p:nvSpPr>
          <p:cNvPr id="13" name="TextBox 12"/>
          <p:cNvSpPr txBox="1"/>
          <p:nvPr/>
        </p:nvSpPr>
        <p:spPr>
          <a:xfrm>
            <a:off x="914400" y="3703320"/>
            <a:ext cx="2194560" cy="164592"/>
          </a:xfrm>
          <a:prstGeom prst="rect">
            <a:avLst/>
          </a:prstGeom>
          <a:noFill/>
        </p:spPr>
        <p:txBody>
          <a:bodyPr wrap="square">
            <a:spAutoFit/>
          </a:bodyPr>
          <a:lstStyle/>
          <a:p>
            <a:pPr algn="l">
              <a:defRPr sz="900" b="0">
                <a:solidFill>
                  <a:srgbClr val="343A4E"/>
                </a:solidFill>
              </a:defRPr>
            </a:pPr>
            <a:r>
              <a:t>Food</a:t>
            </a:r>
          </a:p>
        </p:txBody>
      </p:sp>
      <p:sp>
        <p:nvSpPr>
          <p:cNvPr id="14" name="TextBox 13"/>
          <p:cNvSpPr txBox="1"/>
          <p:nvPr/>
        </p:nvSpPr>
        <p:spPr>
          <a:xfrm>
            <a:off x="914400" y="3703320"/>
            <a:ext cx="2194560" cy="164592"/>
          </a:xfrm>
          <a:prstGeom prst="rect">
            <a:avLst/>
          </a:prstGeom>
          <a:noFill/>
        </p:spPr>
        <p:txBody>
          <a:bodyPr wrap="square">
            <a:spAutoFit/>
          </a:bodyPr>
          <a:lstStyle/>
          <a:p>
            <a:pPr algn="r">
              <a:defRPr sz="900" b="1">
                <a:solidFill>
                  <a:srgbClr val="5B43BE"/>
                </a:solidFill>
              </a:defRPr>
            </a:pPr>
            <a:r>
              <a:t>₹2,100</a:t>
            </a:r>
          </a:p>
        </p:txBody>
      </p:sp>
      <p:sp>
        <p:nvSpPr>
          <p:cNvPr id="15" name="TextBox 14"/>
          <p:cNvSpPr txBox="1"/>
          <p:nvPr/>
        </p:nvSpPr>
        <p:spPr>
          <a:xfrm>
            <a:off x="914400" y="4206240"/>
            <a:ext cx="2194560" cy="164592"/>
          </a:xfrm>
          <a:prstGeom prst="rect">
            <a:avLst/>
          </a:prstGeom>
          <a:noFill/>
        </p:spPr>
        <p:txBody>
          <a:bodyPr wrap="square">
            <a:spAutoFit/>
          </a:bodyPr>
          <a:lstStyle/>
          <a:p>
            <a:pPr algn="l">
              <a:defRPr sz="900" b="0">
                <a:solidFill>
                  <a:srgbClr val="343A4E"/>
                </a:solidFill>
              </a:defRPr>
            </a:pPr>
            <a:r>
              <a:t>Travel</a:t>
            </a:r>
          </a:p>
        </p:txBody>
      </p:sp>
      <p:sp>
        <p:nvSpPr>
          <p:cNvPr id="16" name="TextBox 15"/>
          <p:cNvSpPr txBox="1"/>
          <p:nvPr/>
        </p:nvSpPr>
        <p:spPr>
          <a:xfrm>
            <a:off x="914400" y="4206240"/>
            <a:ext cx="2194560" cy="164592"/>
          </a:xfrm>
          <a:prstGeom prst="rect">
            <a:avLst/>
          </a:prstGeom>
          <a:noFill/>
        </p:spPr>
        <p:txBody>
          <a:bodyPr wrap="square">
            <a:spAutoFit/>
          </a:bodyPr>
          <a:lstStyle/>
          <a:p>
            <a:pPr algn="r">
              <a:defRPr sz="900" b="1">
                <a:solidFill>
                  <a:srgbClr val="5B43BE"/>
                </a:solidFill>
              </a:defRPr>
            </a:pPr>
            <a:r>
              <a:t>₹1,200</a:t>
            </a:r>
          </a:p>
        </p:txBody>
      </p:sp>
      <p:sp>
        <p:nvSpPr>
          <p:cNvPr id="17" name="TextBox 16"/>
          <p:cNvSpPr txBox="1"/>
          <p:nvPr/>
        </p:nvSpPr>
        <p:spPr>
          <a:xfrm>
            <a:off x="914400" y="4709160"/>
            <a:ext cx="2194560" cy="164592"/>
          </a:xfrm>
          <a:prstGeom prst="rect">
            <a:avLst/>
          </a:prstGeom>
          <a:noFill/>
        </p:spPr>
        <p:txBody>
          <a:bodyPr wrap="square">
            <a:spAutoFit/>
          </a:bodyPr>
          <a:lstStyle/>
          <a:p>
            <a:pPr algn="l">
              <a:defRPr sz="900" b="0">
                <a:solidFill>
                  <a:srgbClr val="343A4E"/>
                </a:solidFill>
              </a:defRPr>
            </a:pPr>
            <a:r>
              <a:t>Education</a:t>
            </a:r>
          </a:p>
        </p:txBody>
      </p:sp>
      <p:sp>
        <p:nvSpPr>
          <p:cNvPr id="18" name="TextBox 17"/>
          <p:cNvSpPr txBox="1"/>
          <p:nvPr/>
        </p:nvSpPr>
        <p:spPr>
          <a:xfrm>
            <a:off x="914400" y="4709160"/>
            <a:ext cx="2194560" cy="164592"/>
          </a:xfrm>
          <a:prstGeom prst="rect">
            <a:avLst/>
          </a:prstGeom>
          <a:noFill/>
        </p:spPr>
        <p:txBody>
          <a:bodyPr wrap="square">
            <a:spAutoFit/>
          </a:bodyPr>
          <a:lstStyle/>
          <a:p>
            <a:pPr algn="r">
              <a:defRPr sz="900" b="1">
                <a:solidFill>
                  <a:srgbClr val="5B43BE"/>
                </a:solidFill>
              </a:defRPr>
            </a:pPr>
            <a:r>
              <a:t>₹1,000</a:t>
            </a:r>
          </a:p>
        </p:txBody>
      </p:sp>
      <p:graphicFrame>
        <p:nvGraphicFramePr>
          <p:cNvPr id="19" name="Chart 18"/>
          <p:cNvGraphicFramePr>
            <a:graphicFrameLocks noGrp="1"/>
          </p:cNvGraphicFramePr>
          <p:nvPr/>
        </p:nvGraphicFramePr>
        <p:xfrm>
          <a:off x="3794760" y="1463040"/>
          <a:ext cx="4023360" cy="3200400"/>
        </p:xfrm>
        <a:graphic>
          <a:graphicData uri="http://schemas.openxmlformats.org/drawingml/2006/chart">
            <c:chart xmlns:c="http://schemas.openxmlformats.org/drawingml/2006/chart" r:id="rId2"/>
          </a:graphicData>
        </a:graphic>
      </p:graphicFrame>
      <p:sp>
        <p:nvSpPr>
          <p:cNvPr id="20" name="Rounded Rectangle 19"/>
          <p:cNvSpPr/>
          <p:nvPr/>
        </p:nvSpPr>
        <p:spPr>
          <a:xfrm>
            <a:off x="8138160" y="1508760"/>
            <a:ext cx="2468880" cy="86868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664207"/>
            <a:ext cx="914400" cy="182880"/>
          </a:xfrm>
          <a:prstGeom prst="rect">
            <a:avLst/>
          </a:prstGeom>
          <a:noFill/>
        </p:spPr>
        <p:txBody>
          <a:bodyPr wrap="square">
            <a:spAutoFit/>
          </a:bodyPr>
          <a:lstStyle/>
          <a:p>
            <a:pPr algn="l">
              <a:defRPr sz="900" b="1">
                <a:solidFill>
                  <a:srgbClr val="6E768A"/>
                </a:solidFill>
              </a:defRPr>
            </a:pPr>
            <a:r>
              <a:t>Spent</a:t>
            </a:r>
          </a:p>
        </p:txBody>
      </p:sp>
      <p:sp>
        <p:nvSpPr>
          <p:cNvPr id="22" name="TextBox 21"/>
          <p:cNvSpPr txBox="1"/>
          <p:nvPr/>
        </p:nvSpPr>
        <p:spPr>
          <a:xfrm>
            <a:off x="9052560" y="1664207"/>
            <a:ext cx="1325880" cy="274320"/>
          </a:xfrm>
          <a:prstGeom prst="rect">
            <a:avLst/>
          </a:prstGeom>
          <a:noFill/>
        </p:spPr>
        <p:txBody>
          <a:bodyPr wrap="square">
            <a:spAutoFit/>
          </a:bodyPr>
          <a:lstStyle/>
          <a:p>
            <a:pPr algn="r">
              <a:defRPr sz="1500" b="1">
                <a:solidFill>
                  <a:srgbClr val="5B43BE"/>
                </a:solidFill>
              </a:defRPr>
            </a:pPr>
            <a:r>
              <a:t>₹6,250</a:t>
            </a:r>
          </a:p>
        </p:txBody>
      </p:sp>
      <p:sp>
        <p:nvSpPr>
          <p:cNvPr id="23" name="Rounded Rectangle 22"/>
          <p:cNvSpPr/>
          <p:nvPr/>
        </p:nvSpPr>
        <p:spPr>
          <a:xfrm>
            <a:off x="8138160" y="2651760"/>
            <a:ext cx="2468880" cy="86868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2807208"/>
            <a:ext cx="914400" cy="182880"/>
          </a:xfrm>
          <a:prstGeom prst="rect">
            <a:avLst/>
          </a:prstGeom>
          <a:noFill/>
        </p:spPr>
        <p:txBody>
          <a:bodyPr wrap="square">
            <a:spAutoFit/>
          </a:bodyPr>
          <a:lstStyle/>
          <a:p>
            <a:pPr algn="l">
              <a:defRPr sz="900" b="1">
                <a:solidFill>
                  <a:srgbClr val="6E768A"/>
                </a:solidFill>
              </a:defRPr>
            </a:pPr>
            <a:r>
              <a:t>Budget</a:t>
            </a:r>
          </a:p>
        </p:txBody>
      </p:sp>
      <p:sp>
        <p:nvSpPr>
          <p:cNvPr id="25" name="TextBox 24"/>
          <p:cNvSpPr txBox="1"/>
          <p:nvPr/>
        </p:nvSpPr>
        <p:spPr>
          <a:xfrm>
            <a:off x="9052560" y="2807208"/>
            <a:ext cx="1325880" cy="274320"/>
          </a:xfrm>
          <a:prstGeom prst="rect">
            <a:avLst/>
          </a:prstGeom>
          <a:noFill/>
        </p:spPr>
        <p:txBody>
          <a:bodyPr wrap="square">
            <a:spAutoFit/>
          </a:bodyPr>
          <a:lstStyle/>
          <a:p>
            <a:pPr algn="r">
              <a:defRPr sz="1500" b="1">
                <a:solidFill>
                  <a:srgbClr val="191E37"/>
                </a:solidFill>
              </a:defRPr>
            </a:pPr>
            <a:r>
              <a:t>₹8,000</a:t>
            </a:r>
          </a:p>
        </p:txBody>
      </p:sp>
      <p:sp>
        <p:nvSpPr>
          <p:cNvPr id="26" name="Rounded Rectangle 25"/>
          <p:cNvSpPr/>
          <p:nvPr/>
        </p:nvSpPr>
        <p:spPr>
          <a:xfrm>
            <a:off x="8138160" y="3794760"/>
            <a:ext cx="2468880" cy="86868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3950208"/>
            <a:ext cx="914400" cy="182880"/>
          </a:xfrm>
          <a:prstGeom prst="rect">
            <a:avLst/>
          </a:prstGeom>
          <a:noFill/>
        </p:spPr>
        <p:txBody>
          <a:bodyPr wrap="square">
            <a:spAutoFit/>
          </a:bodyPr>
          <a:lstStyle/>
          <a:p>
            <a:pPr algn="l">
              <a:defRPr sz="900" b="1">
                <a:solidFill>
                  <a:srgbClr val="6E768A"/>
                </a:solidFill>
              </a:defRPr>
            </a:pPr>
            <a:r>
              <a:t>Left</a:t>
            </a:r>
          </a:p>
        </p:txBody>
      </p:sp>
      <p:sp>
        <p:nvSpPr>
          <p:cNvPr id="28" name="TextBox 27"/>
          <p:cNvSpPr txBox="1"/>
          <p:nvPr/>
        </p:nvSpPr>
        <p:spPr>
          <a:xfrm>
            <a:off x="9052560" y="3950208"/>
            <a:ext cx="1325880" cy="274320"/>
          </a:xfrm>
          <a:prstGeom prst="rect">
            <a:avLst/>
          </a:prstGeom>
          <a:noFill/>
        </p:spPr>
        <p:txBody>
          <a:bodyPr wrap="square">
            <a:spAutoFit/>
          </a:bodyPr>
          <a:lstStyle/>
          <a:p>
            <a:pPr algn="r">
              <a:defRPr sz="1500" b="1">
                <a:solidFill>
                  <a:srgbClr val="27A46F"/>
                </a:solidFill>
              </a:defRPr>
            </a:pPr>
            <a:r>
              <a:t>₹1,750</a:t>
            </a:r>
          </a:p>
        </p:txBody>
      </p:sp>
      <p:pic>
        <p:nvPicPr>
          <p:cNvPr id="29" name="Picture 28" descr="a_wide_infographic_mockup_ui_design_presentation.png"/>
          <p:cNvPicPr>
            <a:picLocks noChangeAspect="1"/>
          </p:cNvPicPr>
          <p:nvPr/>
        </p:nvPicPr>
        <p:blipFill>
          <a:blip r:embed="rId3"/>
          <a:stretch>
            <a:fillRect/>
          </a:stretch>
        </p:blipFill>
        <p:spPr>
          <a:xfrm>
            <a:off x="9464040" y="5257800"/>
            <a:ext cx="2148840" cy="120700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502920"/>
          </a:xfrm>
          <a:prstGeom prst="rect">
            <a:avLst/>
          </a:prstGeom>
          <a:noFill/>
        </p:spPr>
        <p:txBody>
          <a:bodyPr wrap="square">
            <a:spAutoFit/>
          </a:bodyPr>
          <a:lstStyle/>
          <a:p>
            <a:pPr algn="l">
              <a:defRPr sz="2800" b="1">
                <a:solidFill>
                  <a:srgbClr val="191E37"/>
                </a:solidFill>
              </a:defRPr>
            </a:pPr>
            <a:r>
              <a:t>Database Design</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What the app stores for analysis</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9</a:t>
            </a:r>
          </a:p>
        </p:txBody>
      </p:sp>
      <p:sp>
        <p:nvSpPr>
          <p:cNvPr id="6" name="Rounded Rectangle 5"/>
          <p:cNvSpPr/>
          <p:nvPr/>
        </p:nvSpPr>
        <p:spPr>
          <a:xfrm>
            <a:off x="731520" y="1417320"/>
            <a:ext cx="5074920" cy="15087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18488"/>
            <a:ext cx="4572000" cy="274320"/>
          </a:xfrm>
          <a:prstGeom prst="rect">
            <a:avLst/>
          </a:prstGeom>
          <a:noFill/>
        </p:spPr>
        <p:txBody>
          <a:bodyPr wrap="square">
            <a:spAutoFit/>
          </a:bodyPr>
          <a:lstStyle/>
          <a:p>
            <a:pPr algn="l">
              <a:defRPr sz="1500" b="1">
                <a:solidFill>
                  <a:srgbClr val="5B43BE"/>
                </a:solidFill>
              </a:defRPr>
            </a:pPr>
            <a:r>
              <a:t>TRANSACTION</a:t>
            </a:r>
          </a:p>
        </p:txBody>
      </p:sp>
      <p:sp>
        <p:nvSpPr>
          <p:cNvPr id="8" name="TextBox 7"/>
          <p:cNvSpPr txBox="1"/>
          <p:nvPr/>
        </p:nvSpPr>
        <p:spPr>
          <a:xfrm>
            <a:off x="960120" y="2075688"/>
            <a:ext cx="4572000" cy="411480"/>
          </a:xfrm>
          <a:prstGeom prst="rect">
            <a:avLst/>
          </a:prstGeom>
          <a:noFill/>
        </p:spPr>
        <p:txBody>
          <a:bodyPr wrap="square">
            <a:spAutoFit/>
          </a:bodyPr>
          <a:lstStyle/>
          <a:p>
            <a:pPr algn="l">
              <a:defRPr sz="1200" b="0">
                <a:solidFill>
                  <a:srgbClr val="343A4E"/>
                </a:solidFill>
              </a:defRPr>
            </a:pPr>
            <a:r>
              <a:t>id • amount • payee • date • category • source</a:t>
            </a:r>
          </a:p>
        </p:txBody>
      </p:sp>
      <p:sp>
        <p:nvSpPr>
          <p:cNvPr id="9" name="Rounded Rectangle 8"/>
          <p:cNvSpPr/>
          <p:nvPr/>
        </p:nvSpPr>
        <p:spPr>
          <a:xfrm>
            <a:off x="6309359" y="1417320"/>
            <a:ext cx="5074920" cy="15087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1618488"/>
            <a:ext cx="4572000" cy="274320"/>
          </a:xfrm>
          <a:prstGeom prst="rect">
            <a:avLst/>
          </a:prstGeom>
          <a:noFill/>
        </p:spPr>
        <p:txBody>
          <a:bodyPr wrap="square">
            <a:spAutoFit/>
          </a:bodyPr>
          <a:lstStyle/>
          <a:p>
            <a:pPr algn="l">
              <a:defRPr sz="1500" b="1">
                <a:solidFill>
                  <a:srgbClr val="5B43BE"/>
                </a:solidFill>
              </a:defRPr>
            </a:pPr>
            <a:r>
              <a:t>CATEGORY</a:t>
            </a:r>
          </a:p>
        </p:txBody>
      </p:sp>
      <p:sp>
        <p:nvSpPr>
          <p:cNvPr id="11" name="TextBox 10"/>
          <p:cNvSpPr txBox="1"/>
          <p:nvPr/>
        </p:nvSpPr>
        <p:spPr>
          <a:xfrm>
            <a:off x="6537959" y="2075688"/>
            <a:ext cx="4572000" cy="411480"/>
          </a:xfrm>
          <a:prstGeom prst="rect">
            <a:avLst/>
          </a:prstGeom>
          <a:noFill/>
        </p:spPr>
        <p:txBody>
          <a:bodyPr wrap="square">
            <a:spAutoFit/>
          </a:bodyPr>
          <a:lstStyle/>
          <a:p>
            <a:pPr algn="l">
              <a:defRPr sz="1200" b="0">
                <a:solidFill>
                  <a:srgbClr val="343A4E"/>
                </a:solidFill>
              </a:defRPr>
            </a:pPr>
            <a:r>
              <a:t>id • name • icon</a:t>
            </a:r>
          </a:p>
        </p:txBody>
      </p:sp>
      <p:sp>
        <p:nvSpPr>
          <p:cNvPr id="12" name="Rounded Rectangle 11"/>
          <p:cNvSpPr/>
          <p:nvPr/>
        </p:nvSpPr>
        <p:spPr>
          <a:xfrm>
            <a:off x="731520" y="3429000"/>
            <a:ext cx="5074920" cy="15087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630168"/>
            <a:ext cx="4572000" cy="274320"/>
          </a:xfrm>
          <a:prstGeom prst="rect">
            <a:avLst/>
          </a:prstGeom>
          <a:noFill/>
        </p:spPr>
        <p:txBody>
          <a:bodyPr wrap="square">
            <a:spAutoFit/>
          </a:bodyPr>
          <a:lstStyle/>
          <a:p>
            <a:pPr algn="l">
              <a:defRPr sz="1500" b="1">
                <a:solidFill>
                  <a:srgbClr val="5B43BE"/>
                </a:solidFill>
              </a:defRPr>
            </a:pPr>
            <a:r>
              <a:t>BUDGET</a:t>
            </a:r>
          </a:p>
        </p:txBody>
      </p:sp>
      <p:sp>
        <p:nvSpPr>
          <p:cNvPr id="14" name="TextBox 13"/>
          <p:cNvSpPr txBox="1"/>
          <p:nvPr/>
        </p:nvSpPr>
        <p:spPr>
          <a:xfrm>
            <a:off x="960120" y="4087368"/>
            <a:ext cx="4572000" cy="411480"/>
          </a:xfrm>
          <a:prstGeom prst="rect">
            <a:avLst/>
          </a:prstGeom>
          <a:noFill/>
        </p:spPr>
        <p:txBody>
          <a:bodyPr wrap="square">
            <a:spAutoFit/>
          </a:bodyPr>
          <a:lstStyle/>
          <a:p>
            <a:pPr algn="l">
              <a:defRPr sz="1200" b="0">
                <a:solidFill>
                  <a:srgbClr val="343A4E"/>
                </a:solidFill>
              </a:defRPr>
            </a:pPr>
            <a:r>
              <a:t>month • limit • spent</a:t>
            </a:r>
          </a:p>
        </p:txBody>
      </p:sp>
      <p:sp>
        <p:nvSpPr>
          <p:cNvPr id="15" name="Rounded Rectangle 14"/>
          <p:cNvSpPr/>
          <p:nvPr/>
        </p:nvSpPr>
        <p:spPr>
          <a:xfrm>
            <a:off x="6309359" y="3429000"/>
            <a:ext cx="5074920" cy="15087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59" y="3630168"/>
            <a:ext cx="4572000" cy="274320"/>
          </a:xfrm>
          <a:prstGeom prst="rect">
            <a:avLst/>
          </a:prstGeom>
          <a:noFill/>
        </p:spPr>
        <p:txBody>
          <a:bodyPr wrap="square">
            <a:spAutoFit/>
          </a:bodyPr>
          <a:lstStyle/>
          <a:p>
            <a:pPr algn="l">
              <a:defRPr sz="1500" b="1">
                <a:solidFill>
                  <a:srgbClr val="5B43BE"/>
                </a:solidFill>
              </a:defRPr>
            </a:pPr>
            <a:r>
              <a:t>USER</a:t>
            </a:r>
          </a:p>
        </p:txBody>
      </p:sp>
      <p:sp>
        <p:nvSpPr>
          <p:cNvPr id="17" name="TextBox 16"/>
          <p:cNvSpPr txBox="1"/>
          <p:nvPr/>
        </p:nvSpPr>
        <p:spPr>
          <a:xfrm>
            <a:off x="6537959" y="4087368"/>
            <a:ext cx="4572000" cy="411480"/>
          </a:xfrm>
          <a:prstGeom prst="rect">
            <a:avLst/>
          </a:prstGeom>
          <a:noFill/>
        </p:spPr>
        <p:txBody>
          <a:bodyPr wrap="square">
            <a:spAutoFit/>
          </a:bodyPr>
          <a:lstStyle/>
          <a:p>
            <a:pPr algn="l">
              <a:defRPr sz="1200" b="0">
                <a:solidFill>
                  <a:srgbClr val="343A4E"/>
                </a:solidFill>
              </a:defRPr>
            </a:pPr>
            <a:r>
              <a:t>id • name • email</a:t>
            </a:r>
          </a:p>
        </p:txBody>
      </p:sp>
      <p:sp>
        <p:nvSpPr>
          <p:cNvPr id="18" name="TextBox 17"/>
          <p:cNvSpPr txBox="1"/>
          <p:nvPr/>
        </p:nvSpPr>
        <p:spPr>
          <a:xfrm>
            <a:off x="822960" y="5897880"/>
            <a:ext cx="10515600" cy="274320"/>
          </a:xfrm>
          <a:prstGeom prst="rect">
            <a:avLst/>
          </a:prstGeom>
          <a:noFill/>
        </p:spPr>
        <p:txBody>
          <a:bodyPr wrap="square">
            <a:spAutoFit/>
          </a:bodyPr>
          <a:lstStyle/>
          <a:p>
            <a:pPr algn="ctr">
              <a:defRPr sz="1100" b="0">
                <a:solidFill>
                  <a:srgbClr val="6E768A"/>
                </a:solidFill>
              </a:defRPr>
            </a:pPr>
            <a:r>
              <a:t>Production version: use encrypted local storage and never store UPI PIN, OTP or bank passwords.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Advantages</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Simple benefits of the Student Expense Tracker</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10</a:t>
            </a:r>
          </a:p>
        </p:txBody>
      </p:sp>
      <p:sp>
        <p:nvSpPr>
          <p:cNvPr id="6" name="Rounded Rectangle 5"/>
          <p:cNvSpPr/>
          <p:nvPr/>
        </p:nvSpPr>
        <p:spPr>
          <a:xfrm>
            <a:off x="594360" y="14173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18488"/>
            <a:ext cx="2971800" cy="320040"/>
          </a:xfrm>
          <a:prstGeom prst="rect">
            <a:avLst/>
          </a:prstGeom>
          <a:noFill/>
        </p:spPr>
        <p:txBody>
          <a:bodyPr wrap="square">
            <a:spAutoFit/>
          </a:bodyPr>
          <a:lstStyle/>
          <a:p>
            <a:pPr algn="l">
              <a:defRPr sz="1400" b="1">
                <a:solidFill>
                  <a:srgbClr val="5B43BE"/>
                </a:solidFill>
              </a:defRPr>
            </a:pPr>
            <a:r>
              <a:t>⚡ Less Work</a:t>
            </a:r>
          </a:p>
        </p:txBody>
      </p:sp>
      <p:sp>
        <p:nvSpPr>
          <p:cNvPr id="8" name="TextBox 7"/>
          <p:cNvSpPr txBox="1"/>
          <p:nvPr/>
        </p:nvSpPr>
        <p:spPr>
          <a:xfrm>
            <a:off x="795528" y="2075688"/>
            <a:ext cx="2971800" cy="640080"/>
          </a:xfrm>
          <a:prstGeom prst="rect">
            <a:avLst/>
          </a:prstGeom>
          <a:noFill/>
        </p:spPr>
        <p:txBody>
          <a:bodyPr wrap="square">
            <a:spAutoFit/>
          </a:bodyPr>
          <a:lstStyle/>
          <a:p>
            <a:pPr algn="l">
              <a:defRPr sz="1100" b="0">
                <a:solidFill>
                  <a:srgbClr val="343A4E"/>
                </a:solidFill>
              </a:defRPr>
            </a:pPr>
            <a:r>
              <a:t>Expenses can be detected from supported bank transaction messages.</a:t>
            </a:r>
          </a:p>
        </p:txBody>
      </p:sp>
      <p:sp>
        <p:nvSpPr>
          <p:cNvPr id="9" name="Rounded Rectangle 8"/>
          <p:cNvSpPr/>
          <p:nvPr/>
        </p:nvSpPr>
        <p:spPr>
          <a:xfrm>
            <a:off x="4389120" y="14173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618488"/>
            <a:ext cx="2971800" cy="320040"/>
          </a:xfrm>
          <a:prstGeom prst="rect">
            <a:avLst/>
          </a:prstGeom>
          <a:noFill/>
        </p:spPr>
        <p:txBody>
          <a:bodyPr wrap="square">
            <a:spAutoFit/>
          </a:bodyPr>
          <a:lstStyle/>
          <a:p>
            <a:pPr algn="l">
              <a:defRPr sz="1400" b="1">
                <a:solidFill>
                  <a:srgbClr val="5B43BE"/>
                </a:solidFill>
              </a:defRPr>
            </a:pPr>
            <a:r>
              <a:t>📊 Easy to Understand</a:t>
            </a:r>
          </a:p>
        </p:txBody>
      </p:sp>
      <p:sp>
        <p:nvSpPr>
          <p:cNvPr id="11" name="TextBox 10"/>
          <p:cNvSpPr txBox="1"/>
          <p:nvPr/>
        </p:nvSpPr>
        <p:spPr>
          <a:xfrm>
            <a:off x="4590288" y="2075688"/>
            <a:ext cx="2971800" cy="640080"/>
          </a:xfrm>
          <a:prstGeom prst="rect">
            <a:avLst/>
          </a:prstGeom>
          <a:noFill/>
        </p:spPr>
        <p:txBody>
          <a:bodyPr wrap="square">
            <a:spAutoFit/>
          </a:bodyPr>
          <a:lstStyle/>
          <a:p>
            <a:pPr algn="l">
              <a:defRPr sz="1100" b="0">
                <a:solidFill>
                  <a:srgbClr val="343A4E"/>
                </a:solidFill>
              </a:defRPr>
            </a:pPr>
            <a:r>
              <a:t>Graphs show where the student spends money.</a:t>
            </a:r>
          </a:p>
        </p:txBody>
      </p:sp>
      <p:sp>
        <p:nvSpPr>
          <p:cNvPr id="12" name="Rounded Rectangle 11"/>
          <p:cNvSpPr/>
          <p:nvPr/>
        </p:nvSpPr>
        <p:spPr>
          <a:xfrm>
            <a:off x="8183880" y="14173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1618488"/>
            <a:ext cx="2971800" cy="320040"/>
          </a:xfrm>
          <a:prstGeom prst="rect">
            <a:avLst/>
          </a:prstGeom>
          <a:noFill/>
        </p:spPr>
        <p:txBody>
          <a:bodyPr wrap="square">
            <a:spAutoFit/>
          </a:bodyPr>
          <a:lstStyle/>
          <a:p>
            <a:pPr algn="l">
              <a:defRPr sz="1400" b="1">
                <a:solidFill>
                  <a:srgbClr val="5B43BE"/>
                </a:solidFill>
              </a:defRPr>
            </a:pPr>
            <a:r>
              <a:t>🧠 Smart Choice</a:t>
            </a:r>
          </a:p>
        </p:txBody>
      </p:sp>
      <p:sp>
        <p:nvSpPr>
          <p:cNvPr id="14" name="TextBox 13"/>
          <p:cNvSpPr txBox="1"/>
          <p:nvPr/>
        </p:nvSpPr>
        <p:spPr>
          <a:xfrm>
            <a:off x="8385048" y="2075688"/>
            <a:ext cx="2971800" cy="640080"/>
          </a:xfrm>
          <a:prstGeom prst="rect">
            <a:avLst/>
          </a:prstGeom>
          <a:noFill/>
        </p:spPr>
        <p:txBody>
          <a:bodyPr wrap="square">
            <a:spAutoFit/>
          </a:bodyPr>
          <a:lstStyle/>
          <a:p>
            <a:pPr algn="l">
              <a:defRPr sz="1100" b="0">
                <a:solidFill>
                  <a:srgbClr val="343A4E"/>
                </a:solidFill>
              </a:defRPr>
            </a:pPr>
            <a:r>
              <a:t>Known payments get a category suggestion.</a:t>
            </a:r>
          </a:p>
        </p:txBody>
      </p:sp>
      <p:sp>
        <p:nvSpPr>
          <p:cNvPr id="15" name="Rounded Rectangle 14"/>
          <p:cNvSpPr/>
          <p:nvPr/>
        </p:nvSpPr>
        <p:spPr>
          <a:xfrm>
            <a:off x="594360" y="34747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675887"/>
            <a:ext cx="2971800" cy="320040"/>
          </a:xfrm>
          <a:prstGeom prst="rect">
            <a:avLst/>
          </a:prstGeom>
          <a:noFill/>
        </p:spPr>
        <p:txBody>
          <a:bodyPr wrap="square">
            <a:spAutoFit/>
          </a:bodyPr>
          <a:lstStyle/>
          <a:p>
            <a:pPr algn="l">
              <a:defRPr sz="1400" b="1">
                <a:solidFill>
                  <a:srgbClr val="5B43BE"/>
                </a:solidFill>
              </a:defRPr>
            </a:pPr>
            <a:r>
              <a:t>👤 User Control</a:t>
            </a:r>
          </a:p>
        </p:txBody>
      </p:sp>
      <p:sp>
        <p:nvSpPr>
          <p:cNvPr id="17" name="TextBox 16"/>
          <p:cNvSpPr txBox="1"/>
          <p:nvPr/>
        </p:nvSpPr>
        <p:spPr>
          <a:xfrm>
            <a:off x="795528" y="4133087"/>
            <a:ext cx="2971800" cy="640080"/>
          </a:xfrm>
          <a:prstGeom prst="rect">
            <a:avLst/>
          </a:prstGeom>
          <a:noFill/>
        </p:spPr>
        <p:txBody>
          <a:bodyPr wrap="square">
            <a:spAutoFit/>
          </a:bodyPr>
          <a:lstStyle/>
          <a:p>
            <a:pPr algn="l">
              <a:defRPr sz="1100" b="0">
                <a:solidFill>
                  <a:srgbClr val="343A4E"/>
                </a:solidFill>
              </a:defRPr>
            </a:pPr>
            <a:r>
              <a:t>Unknown payments are confirmed by the student.</a:t>
            </a:r>
          </a:p>
        </p:txBody>
      </p:sp>
      <p:sp>
        <p:nvSpPr>
          <p:cNvPr id="18" name="Rounded Rectangle 17"/>
          <p:cNvSpPr/>
          <p:nvPr/>
        </p:nvSpPr>
        <p:spPr>
          <a:xfrm>
            <a:off x="4389120" y="34747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675887"/>
            <a:ext cx="2971800" cy="320040"/>
          </a:xfrm>
          <a:prstGeom prst="rect">
            <a:avLst/>
          </a:prstGeom>
          <a:noFill/>
        </p:spPr>
        <p:txBody>
          <a:bodyPr wrap="square">
            <a:spAutoFit/>
          </a:bodyPr>
          <a:lstStyle/>
          <a:p>
            <a:pPr algn="l">
              <a:defRPr sz="1400" b="1">
                <a:solidFill>
                  <a:srgbClr val="5B43BE"/>
                </a:solidFill>
              </a:defRPr>
            </a:pPr>
            <a:r>
              <a:t>💰 Budget Check</a:t>
            </a:r>
          </a:p>
        </p:txBody>
      </p:sp>
      <p:sp>
        <p:nvSpPr>
          <p:cNvPr id="20" name="TextBox 19"/>
          <p:cNvSpPr txBox="1"/>
          <p:nvPr/>
        </p:nvSpPr>
        <p:spPr>
          <a:xfrm>
            <a:off x="4590288" y="4133087"/>
            <a:ext cx="2971800" cy="640080"/>
          </a:xfrm>
          <a:prstGeom prst="rect">
            <a:avLst/>
          </a:prstGeom>
          <a:noFill/>
        </p:spPr>
        <p:txBody>
          <a:bodyPr wrap="square">
            <a:spAutoFit/>
          </a:bodyPr>
          <a:lstStyle/>
          <a:p>
            <a:pPr algn="l">
              <a:defRPr sz="1100" b="0">
                <a:solidFill>
                  <a:srgbClr val="343A4E"/>
                </a:solidFill>
              </a:defRPr>
            </a:pPr>
            <a:r>
              <a:t>Student can see how much money is left.</a:t>
            </a:r>
          </a:p>
        </p:txBody>
      </p:sp>
      <p:sp>
        <p:nvSpPr>
          <p:cNvPr id="21" name="Rounded Rectangle 20"/>
          <p:cNvSpPr/>
          <p:nvPr/>
        </p:nvSpPr>
        <p:spPr>
          <a:xfrm>
            <a:off x="8183880" y="3474720"/>
            <a:ext cx="3383280" cy="164592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5048" y="3675887"/>
            <a:ext cx="2971800" cy="320040"/>
          </a:xfrm>
          <a:prstGeom prst="rect">
            <a:avLst/>
          </a:prstGeom>
          <a:noFill/>
        </p:spPr>
        <p:txBody>
          <a:bodyPr wrap="square">
            <a:spAutoFit/>
          </a:bodyPr>
          <a:lstStyle/>
          <a:p>
            <a:pPr algn="l">
              <a:defRPr sz="1400" b="1">
                <a:solidFill>
                  <a:srgbClr val="5B43BE"/>
                </a:solidFill>
              </a:defRPr>
            </a:pPr>
            <a:r>
              <a:t>🎓 Made for Students</a:t>
            </a:r>
          </a:p>
        </p:txBody>
      </p:sp>
      <p:sp>
        <p:nvSpPr>
          <p:cNvPr id="23" name="TextBox 22"/>
          <p:cNvSpPr txBox="1"/>
          <p:nvPr/>
        </p:nvSpPr>
        <p:spPr>
          <a:xfrm>
            <a:off x="8385048" y="4133087"/>
            <a:ext cx="2971800" cy="640080"/>
          </a:xfrm>
          <a:prstGeom prst="rect">
            <a:avLst/>
          </a:prstGeom>
          <a:noFill/>
        </p:spPr>
        <p:txBody>
          <a:bodyPr wrap="square">
            <a:spAutoFit/>
          </a:bodyPr>
          <a:lstStyle/>
          <a:p>
            <a:pPr algn="l">
              <a:defRPr sz="1100" b="0">
                <a:solidFill>
                  <a:srgbClr val="343A4E"/>
                </a:solidFill>
              </a:defRPr>
            </a:pPr>
            <a:r>
              <a:t>Food, travel, education and other student expenses are easy to track.</a:t>
            </a:r>
          </a:p>
        </p:txBody>
      </p:sp>
      <p:sp>
        <p:nvSpPr>
          <p:cNvPr id="24" name="TextBox 23"/>
          <p:cNvSpPr txBox="1"/>
          <p:nvPr/>
        </p:nvSpPr>
        <p:spPr>
          <a:xfrm>
            <a:off x="914400" y="5715000"/>
            <a:ext cx="10241280" cy="274320"/>
          </a:xfrm>
          <a:prstGeom prst="rect">
            <a:avLst/>
          </a:prstGeom>
          <a:noFill/>
        </p:spPr>
        <p:txBody>
          <a:bodyPr wrap="square">
            <a:spAutoFit/>
          </a:bodyPr>
          <a:lstStyle/>
          <a:p>
            <a:pPr algn="ctr">
              <a:defRPr sz="1600" b="1">
                <a:solidFill>
                  <a:srgbClr val="27A46F"/>
                </a:solidFill>
              </a:defRPr>
            </a:pPr>
            <a:r>
              <a:t>PAYMENT  →  TRACK  →  ANALYSE  →  SAVE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Disadvantages</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A few simple limitations of the app</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11</a:t>
            </a:r>
          </a:p>
        </p:txBody>
      </p:sp>
      <p:sp>
        <p:nvSpPr>
          <p:cNvPr id="6" name="Rounded Rectangle 5"/>
          <p:cNvSpPr/>
          <p:nvPr/>
        </p:nvSpPr>
        <p:spPr>
          <a:xfrm>
            <a:off x="594360" y="1325880"/>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90472"/>
            <a:ext cx="4709160" cy="292608"/>
          </a:xfrm>
          <a:prstGeom prst="rect">
            <a:avLst/>
          </a:prstGeom>
          <a:noFill/>
        </p:spPr>
        <p:txBody>
          <a:bodyPr wrap="square">
            <a:spAutoFit/>
          </a:bodyPr>
          <a:lstStyle/>
          <a:p>
            <a:pPr algn="l">
              <a:defRPr sz="1300" b="1">
                <a:solidFill>
                  <a:srgbClr val="D74B55"/>
                </a:solidFill>
              </a:defRPr>
            </a:pPr>
            <a:r>
              <a:t>📩 Permission Needed</a:t>
            </a:r>
          </a:p>
        </p:txBody>
      </p:sp>
      <p:sp>
        <p:nvSpPr>
          <p:cNvPr id="8" name="TextBox 7"/>
          <p:cNvSpPr txBox="1"/>
          <p:nvPr/>
        </p:nvSpPr>
        <p:spPr>
          <a:xfrm>
            <a:off x="822960" y="1856231"/>
            <a:ext cx="4709160" cy="457200"/>
          </a:xfrm>
          <a:prstGeom prst="rect">
            <a:avLst/>
          </a:prstGeom>
          <a:noFill/>
        </p:spPr>
        <p:txBody>
          <a:bodyPr wrap="square">
            <a:spAutoFit/>
          </a:bodyPr>
          <a:lstStyle/>
          <a:p>
            <a:pPr algn="l">
              <a:defRPr sz="1080" b="0">
                <a:solidFill>
                  <a:srgbClr val="343A4E"/>
                </a:solidFill>
              </a:defRPr>
            </a:pPr>
            <a:r>
              <a:t>The student must allow the app to read supported bank transaction messages.</a:t>
            </a:r>
          </a:p>
        </p:txBody>
      </p:sp>
      <p:sp>
        <p:nvSpPr>
          <p:cNvPr id="9" name="Rounded Rectangle 8"/>
          <p:cNvSpPr/>
          <p:nvPr/>
        </p:nvSpPr>
        <p:spPr>
          <a:xfrm>
            <a:off x="6217920" y="1325880"/>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90472"/>
            <a:ext cx="4709160" cy="292608"/>
          </a:xfrm>
          <a:prstGeom prst="rect">
            <a:avLst/>
          </a:prstGeom>
          <a:noFill/>
        </p:spPr>
        <p:txBody>
          <a:bodyPr wrap="square">
            <a:spAutoFit/>
          </a:bodyPr>
          <a:lstStyle/>
          <a:p>
            <a:pPr algn="l">
              <a:defRPr sz="1300" b="1">
                <a:solidFill>
                  <a:srgbClr val="D74B55"/>
                </a:solidFill>
              </a:defRPr>
            </a:pPr>
            <a:r>
              <a:t>❓ Sometimes It Won’t Know</a:t>
            </a:r>
          </a:p>
        </p:txBody>
      </p:sp>
      <p:sp>
        <p:nvSpPr>
          <p:cNvPr id="11" name="TextBox 10"/>
          <p:cNvSpPr txBox="1"/>
          <p:nvPr/>
        </p:nvSpPr>
        <p:spPr>
          <a:xfrm>
            <a:off x="6446520" y="1856231"/>
            <a:ext cx="4709160" cy="457200"/>
          </a:xfrm>
          <a:prstGeom prst="rect">
            <a:avLst/>
          </a:prstGeom>
          <a:noFill/>
        </p:spPr>
        <p:txBody>
          <a:bodyPr wrap="square">
            <a:spAutoFit/>
          </a:bodyPr>
          <a:lstStyle/>
          <a:p>
            <a:pPr algn="l">
              <a:defRPr sz="1080" b="0">
                <a:solidFill>
                  <a:srgbClr val="343A4E"/>
                </a:solidFill>
              </a:defRPr>
            </a:pPr>
            <a:r>
              <a:t>If the message does not show enough details, the app may ask the student.</a:t>
            </a:r>
          </a:p>
        </p:txBody>
      </p:sp>
      <p:sp>
        <p:nvSpPr>
          <p:cNvPr id="12" name="Rounded Rectangle 11"/>
          <p:cNvSpPr/>
          <p:nvPr/>
        </p:nvSpPr>
        <p:spPr>
          <a:xfrm>
            <a:off x="594360" y="2834639"/>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99232"/>
            <a:ext cx="4709160" cy="292608"/>
          </a:xfrm>
          <a:prstGeom prst="rect">
            <a:avLst/>
          </a:prstGeom>
          <a:noFill/>
        </p:spPr>
        <p:txBody>
          <a:bodyPr wrap="square">
            <a:spAutoFit/>
          </a:bodyPr>
          <a:lstStyle/>
          <a:p>
            <a:pPr algn="l">
              <a:defRPr sz="1300" b="1">
                <a:solidFill>
                  <a:srgbClr val="D74B55"/>
                </a:solidFill>
              </a:defRPr>
            </a:pPr>
            <a:r>
              <a:t>🏷️ Category Can Be Wrong</a:t>
            </a:r>
          </a:p>
        </p:txBody>
      </p:sp>
      <p:sp>
        <p:nvSpPr>
          <p:cNvPr id="14" name="TextBox 13"/>
          <p:cNvSpPr txBox="1"/>
          <p:nvPr/>
        </p:nvSpPr>
        <p:spPr>
          <a:xfrm>
            <a:off x="822960" y="3364991"/>
            <a:ext cx="4709160" cy="457200"/>
          </a:xfrm>
          <a:prstGeom prst="rect">
            <a:avLst/>
          </a:prstGeom>
          <a:noFill/>
        </p:spPr>
        <p:txBody>
          <a:bodyPr wrap="square">
            <a:spAutoFit/>
          </a:bodyPr>
          <a:lstStyle/>
          <a:p>
            <a:pPr algn="l">
              <a:defRPr sz="1080" b="0">
                <a:solidFill>
                  <a:srgbClr val="343A4E"/>
                </a:solidFill>
              </a:defRPr>
            </a:pPr>
            <a:r>
              <a:t>A merchant name may not always tell the real purpose of the payment.</a:t>
            </a:r>
          </a:p>
        </p:txBody>
      </p:sp>
      <p:sp>
        <p:nvSpPr>
          <p:cNvPr id="15" name="Rounded Rectangle 14"/>
          <p:cNvSpPr/>
          <p:nvPr/>
        </p:nvSpPr>
        <p:spPr>
          <a:xfrm>
            <a:off x="6217920" y="2834639"/>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999232"/>
            <a:ext cx="4709160" cy="292608"/>
          </a:xfrm>
          <a:prstGeom prst="rect">
            <a:avLst/>
          </a:prstGeom>
          <a:noFill/>
        </p:spPr>
        <p:txBody>
          <a:bodyPr wrap="square">
            <a:spAutoFit/>
          </a:bodyPr>
          <a:lstStyle/>
          <a:p>
            <a:pPr algn="l">
              <a:defRPr sz="1300" b="1">
                <a:solidFill>
                  <a:srgbClr val="D74B55"/>
                </a:solidFill>
              </a:defRPr>
            </a:pPr>
            <a:r>
              <a:t>🔒 Privacy Is Important</a:t>
            </a:r>
          </a:p>
        </p:txBody>
      </p:sp>
      <p:sp>
        <p:nvSpPr>
          <p:cNvPr id="17" name="TextBox 16"/>
          <p:cNvSpPr txBox="1"/>
          <p:nvPr/>
        </p:nvSpPr>
        <p:spPr>
          <a:xfrm>
            <a:off x="6446520" y="3364991"/>
            <a:ext cx="4709160" cy="457200"/>
          </a:xfrm>
          <a:prstGeom prst="rect">
            <a:avLst/>
          </a:prstGeom>
          <a:noFill/>
        </p:spPr>
        <p:txBody>
          <a:bodyPr wrap="square">
            <a:spAutoFit/>
          </a:bodyPr>
          <a:lstStyle/>
          <a:p>
            <a:pPr algn="l">
              <a:defRPr sz="1080" b="0">
                <a:solidFill>
                  <a:srgbClr val="343A4E"/>
                </a:solidFill>
              </a:defRPr>
            </a:pPr>
            <a:r>
              <a:t>Bank messages contain private information, so the app must protect it.</a:t>
            </a:r>
          </a:p>
        </p:txBody>
      </p:sp>
      <p:sp>
        <p:nvSpPr>
          <p:cNvPr id="18" name="Rounded Rectangle 17"/>
          <p:cNvSpPr/>
          <p:nvPr/>
        </p:nvSpPr>
        <p:spPr>
          <a:xfrm>
            <a:off x="594360" y="4343400"/>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07992"/>
            <a:ext cx="4709160" cy="292608"/>
          </a:xfrm>
          <a:prstGeom prst="rect">
            <a:avLst/>
          </a:prstGeom>
          <a:noFill/>
        </p:spPr>
        <p:txBody>
          <a:bodyPr wrap="square">
            <a:spAutoFit/>
          </a:bodyPr>
          <a:lstStyle/>
          <a:p>
            <a:pPr algn="l">
              <a:defRPr sz="1300" b="1">
                <a:solidFill>
                  <a:srgbClr val="D74B55"/>
                </a:solidFill>
              </a:defRPr>
            </a:pPr>
            <a:r>
              <a:t>📱 Not Every Payment Is Same</a:t>
            </a:r>
          </a:p>
        </p:txBody>
      </p:sp>
      <p:sp>
        <p:nvSpPr>
          <p:cNvPr id="20" name="TextBox 19"/>
          <p:cNvSpPr txBox="1"/>
          <p:nvPr/>
        </p:nvSpPr>
        <p:spPr>
          <a:xfrm>
            <a:off x="822960" y="4873752"/>
            <a:ext cx="4709160" cy="457200"/>
          </a:xfrm>
          <a:prstGeom prst="rect">
            <a:avLst/>
          </a:prstGeom>
          <a:noFill/>
        </p:spPr>
        <p:txBody>
          <a:bodyPr wrap="square">
            <a:spAutoFit/>
          </a:bodyPr>
          <a:lstStyle/>
          <a:p>
            <a:pPr algn="l">
              <a:defRPr sz="1080" b="0">
                <a:solidFill>
                  <a:srgbClr val="343A4E"/>
                </a:solidFill>
              </a:defRPr>
            </a:pPr>
            <a:r>
              <a:t>Different banks/apps may send messages in different formats.</a:t>
            </a:r>
          </a:p>
        </p:txBody>
      </p:sp>
      <p:sp>
        <p:nvSpPr>
          <p:cNvPr id="21" name="Rounded Rectangle 20"/>
          <p:cNvSpPr/>
          <p:nvPr/>
        </p:nvSpPr>
        <p:spPr>
          <a:xfrm>
            <a:off x="6217920" y="4343400"/>
            <a:ext cx="5212080" cy="1207008"/>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07992"/>
            <a:ext cx="4709160" cy="292608"/>
          </a:xfrm>
          <a:prstGeom prst="rect">
            <a:avLst/>
          </a:prstGeom>
          <a:noFill/>
        </p:spPr>
        <p:txBody>
          <a:bodyPr wrap="square">
            <a:spAutoFit/>
          </a:bodyPr>
          <a:lstStyle/>
          <a:p>
            <a:pPr algn="l">
              <a:defRPr sz="1300" b="1">
                <a:solidFill>
                  <a:srgbClr val="D74B55"/>
                </a:solidFill>
              </a:defRPr>
            </a:pPr>
            <a:r>
              <a:t>🌐 Internet Is Not the Main Source</a:t>
            </a:r>
          </a:p>
        </p:txBody>
      </p:sp>
      <p:sp>
        <p:nvSpPr>
          <p:cNvPr id="23" name="TextBox 22"/>
          <p:cNvSpPr txBox="1"/>
          <p:nvPr/>
        </p:nvSpPr>
        <p:spPr>
          <a:xfrm>
            <a:off x="6446520" y="4873752"/>
            <a:ext cx="4709160" cy="457200"/>
          </a:xfrm>
          <a:prstGeom prst="rect">
            <a:avLst/>
          </a:prstGeom>
          <a:noFill/>
        </p:spPr>
        <p:txBody>
          <a:bodyPr wrap="square">
            <a:spAutoFit/>
          </a:bodyPr>
          <a:lstStyle/>
          <a:p>
            <a:pPr algn="l">
              <a:defRPr sz="1080" b="0">
                <a:solidFill>
                  <a:srgbClr val="343A4E"/>
                </a:solidFill>
              </a:defRPr>
            </a:pPr>
            <a:r>
              <a:t>The app depends on available transaction messages, not direct bank access.</a:t>
            </a:r>
          </a:p>
        </p:txBody>
      </p:sp>
      <p:sp>
        <p:nvSpPr>
          <p:cNvPr id="24" name="TextBox 23"/>
          <p:cNvSpPr txBox="1"/>
          <p:nvPr/>
        </p:nvSpPr>
        <p:spPr>
          <a:xfrm>
            <a:off x="3840480" y="5989320"/>
            <a:ext cx="4480560" cy="228600"/>
          </a:xfrm>
          <a:prstGeom prst="rect">
            <a:avLst/>
          </a:prstGeom>
          <a:noFill/>
        </p:spPr>
        <p:txBody>
          <a:bodyPr wrap="square">
            <a:spAutoFit/>
          </a:bodyPr>
          <a:lstStyle/>
          <a:p>
            <a:pPr algn="ctr">
              <a:defRPr sz="1100" b="1">
                <a:solidFill>
                  <a:srgbClr val="6E768A"/>
                </a:solidFill>
              </a:defRPr>
            </a:pPr>
            <a:r>
              <a:t>⚠  Permission → Detection → Confirmation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Security &amp; Privacy</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What the app reads — and what it does NOT do</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12</a:t>
            </a:r>
          </a:p>
        </p:txBody>
      </p:sp>
      <p:sp>
        <p:nvSpPr>
          <p:cNvPr id="6" name="TextBox 5"/>
          <p:cNvSpPr txBox="1"/>
          <p:nvPr/>
        </p:nvSpPr>
        <p:spPr>
          <a:xfrm>
            <a:off x="731520" y="1325880"/>
            <a:ext cx="10515600" cy="320040"/>
          </a:xfrm>
          <a:prstGeom prst="rect">
            <a:avLst/>
          </a:prstGeom>
          <a:noFill/>
        </p:spPr>
        <p:txBody>
          <a:bodyPr wrap="square">
            <a:spAutoFit/>
          </a:bodyPr>
          <a:lstStyle/>
          <a:p>
            <a:pPr algn="l">
              <a:defRPr sz="1700" b="1">
                <a:solidFill>
                  <a:srgbClr val="5B43BE"/>
                </a:solidFill>
              </a:defRPr>
            </a:pPr>
            <a:r>
              <a:t>Example Chat Flow: Unknown Transaction</a:t>
            </a:r>
          </a:p>
        </p:txBody>
      </p:sp>
      <p:sp>
        <p:nvSpPr>
          <p:cNvPr id="7" name="Rounded Rectangle 6"/>
          <p:cNvSpPr/>
          <p:nvPr/>
        </p:nvSpPr>
        <p:spPr>
          <a:xfrm>
            <a:off x="822960" y="1828800"/>
            <a:ext cx="5486400" cy="713232"/>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93392"/>
            <a:ext cx="5029200" cy="320040"/>
          </a:xfrm>
          <a:prstGeom prst="rect">
            <a:avLst/>
          </a:prstGeom>
          <a:noFill/>
        </p:spPr>
        <p:txBody>
          <a:bodyPr wrap="square">
            <a:spAutoFit/>
          </a:bodyPr>
          <a:lstStyle/>
          <a:p>
            <a:pPr algn="l">
              <a:defRPr sz="1200" b="1">
                <a:solidFill>
                  <a:srgbClr val="191E37"/>
                </a:solidFill>
              </a:defRPr>
            </a:pPr>
            <a:r>
              <a:t>🏦 Bank SMS: “₹200 debited from your account to XYZ”</a:t>
            </a:r>
          </a:p>
        </p:txBody>
      </p:sp>
      <p:sp>
        <p:nvSpPr>
          <p:cNvPr id="9" name="TextBox 8"/>
          <p:cNvSpPr txBox="1"/>
          <p:nvPr/>
        </p:nvSpPr>
        <p:spPr>
          <a:xfrm>
            <a:off x="6355080" y="1965960"/>
            <a:ext cx="914400" cy="320040"/>
          </a:xfrm>
          <a:prstGeom prst="rect">
            <a:avLst/>
          </a:prstGeom>
          <a:noFill/>
        </p:spPr>
        <p:txBody>
          <a:bodyPr wrap="square">
            <a:spAutoFit/>
          </a:bodyPr>
          <a:lstStyle/>
          <a:p>
            <a:pPr algn="ctr">
              <a:defRPr sz="2200" b="1">
                <a:solidFill>
                  <a:srgbClr val="5B43BE"/>
                </a:solidFill>
              </a:defRPr>
            </a:pPr>
            <a:r>
              <a:t>↓</a:t>
            </a:r>
          </a:p>
        </p:txBody>
      </p:sp>
      <p:sp>
        <p:nvSpPr>
          <p:cNvPr id="10" name="Rounded Rectangle 9"/>
          <p:cNvSpPr/>
          <p:nvPr/>
        </p:nvSpPr>
        <p:spPr>
          <a:xfrm>
            <a:off x="7315200" y="1828800"/>
            <a:ext cx="3977639" cy="713232"/>
          </a:xfrm>
          <a:prstGeom prst="roundRect">
            <a:avLst/>
          </a:prstGeom>
          <a:solidFill>
            <a:srgbClr val="EFEB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1993392"/>
            <a:ext cx="3611880" cy="320040"/>
          </a:xfrm>
          <a:prstGeom prst="rect">
            <a:avLst/>
          </a:prstGeom>
          <a:noFill/>
        </p:spPr>
        <p:txBody>
          <a:bodyPr wrap="square">
            <a:spAutoFit/>
          </a:bodyPr>
          <a:lstStyle/>
          <a:p>
            <a:pPr algn="ctr">
              <a:defRPr sz="1200" b="1">
                <a:solidFill>
                  <a:srgbClr val="5B43BE"/>
                </a:solidFill>
              </a:defRPr>
            </a:pPr>
            <a:r>
              <a:t>App detects: ₹200 + XYZ</a:t>
            </a:r>
          </a:p>
        </p:txBody>
      </p:sp>
      <p:sp>
        <p:nvSpPr>
          <p:cNvPr id="12" name="Rounded Rectangle 11"/>
          <p:cNvSpPr/>
          <p:nvPr/>
        </p:nvSpPr>
        <p:spPr>
          <a:xfrm>
            <a:off x="822960" y="2788920"/>
            <a:ext cx="5486400"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971800"/>
            <a:ext cx="5029200" cy="594360"/>
          </a:xfrm>
          <a:prstGeom prst="rect">
            <a:avLst/>
          </a:prstGeom>
          <a:noFill/>
        </p:spPr>
        <p:txBody>
          <a:bodyPr wrap="square">
            <a:spAutoFit/>
          </a:bodyPr>
          <a:lstStyle/>
          <a:p>
            <a:pPr algn="l">
              <a:defRPr sz="1400" b="1">
                <a:solidFill>
                  <a:srgbClr val="191E37"/>
                </a:solidFill>
              </a:defRPr>
            </a:pPr>
            <a:r>
              <a:t>🤖 App: “We detected ₹200.</a:t>
            </a:r>
            <a:br/>
            <a:r>
              <a:t>What is this expense for?”</a:t>
            </a:r>
          </a:p>
        </p:txBody>
      </p:sp>
      <p:sp>
        <p:nvSpPr>
          <p:cNvPr id="14" name="Rounded Rectangle 13"/>
          <p:cNvSpPr/>
          <p:nvPr/>
        </p:nvSpPr>
        <p:spPr>
          <a:xfrm>
            <a:off x="7315200" y="2788920"/>
            <a:ext cx="3977639" cy="10515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2971800"/>
            <a:ext cx="3611880" cy="594360"/>
          </a:xfrm>
          <a:prstGeom prst="rect">
            <a:avLst/>
          </a:prstGeom>
          <a:noFill/>
        </p:spPr>
        <p:txBody>
          <a:bodyPr wrap="square">
            <a:spAutoFit/>
          </a:bodyPr>
          <a:lstStyle/>
          <a:p>
            <a:pPr algn="ctr">
              <a:defRPr sz="1100" b="1">
                <a:solidFill>
                  <a:srgbClr val="343A4E"/>
                </a:solidFill>
              </a:defRPr>
            </a:pPr>
            <a:r>
              <a:t>🚌 Travel   🍔 Food</a:t>
            </a:r>
            <a:br/>
            <a:r>
              <a:t>📚 Education   🛍️ Shopping   Other</a:t>
            </a:r>
          </a:p>
        </p:txBody>
      </p:sp>
      <p:sp>
        <p:nvSpPr>
          <p:cNvPr id="16" name="Rounded Rectangle 15"/>
          <p:cNvSpPr/>
          <p:nvPr/>
        </p:nvSpPr>
        <p:spPr>
          <a:xfrm>
            <a:off x="822960" y="4069080"/>
            <a:ext cx="5486400" cy="749808"/>
          </a:xfrm>
          <a:prstGeom prst="roundRect">
            <a:avLst/>
          </a:prstGeom>
          <a:solidFill>
            <a:srgbClr val="EFEB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279392"/>
            <a:ext cx="5029200" cy="274320"/>
          </a:xfrm>
          <a:prstGeom prst="rect">
            <a:avLst/>
          </a:prstGeom>
          <a:noFill/>
        </p:spPr>
        <p:txBody>
          <a:bodyPr wrap="square">
            <a:spAutoFit/>
          </a:bodyPr>
          <a:lstStyle/>
          <a:p>
            <a:pPr algn="l">
              <a:defRPr sz="1400" b="1">
                <a:solidFill>
                  <a:srgbClr val="5B43BE"/>
                </a:solidFill>
              </a:defRPr>
            </a:pPr>
            <a:r>
              <a:t>👤 Student: “Food”</a:t>
            </a:r>
          </a:p>
        </p:txBody>
      </p:sp>
      <p:sp>
        <p:nvSpPr>
          <p:cNvPr id="18" name="TextBox 17"/>
          <p:cNvSpPr txBox="1"/>
          <p:nvPr/>
        </p:nvSpPr>
        <p:spPr>
          <a:xfrm>
            <a:off x="6355080" y="4224528"/>
            <a:ext cx="914400" cy="320040"/>
          </a:xfrm>
          <a:prstGeom prst="rect">
            <a:avLst/>
          </a:prstGeom>
          <a:noFill/>
        </p:spPr>
        <p:txBody>
          <a:bodyPr wrap="square">
            <a:spAutoFit/>
          </a:bodyPr>
          <a:lstStyle/>
          <a:p>
            <a:pPr algn="ctr">
              <a:defRPr sz="2200" b="1">
                <a:solidFill>
                  <a:srgbClr val="5B43BE"/>
                </a:solidFill>
              </a:defRPr>
            </a:pPr>
            <a:r>
              <a:t>↓</a:t>
            </a:r>
          </a:p>
        </p:txBody>
      </p:sp>
      <p:sp>
        <p:nvSpPr>
          <p:cNvPr id="19" name="Rounded Rectangle 18"/>
          <p:cNvSpPr/>
          <p:nvPr/>
        </p:nvSpPr>
        <p:spPr>
          <a:xfrm>
            <a:off x="7315200" y="4069080"/>
            <a:ext cx="3977639" cy="749808"/>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4279392"/>
            <a:ext cx="3611880" cy="274320"/>
          </a:xfrm>
          <a:prstGeom prst="rect">
            <a:avLst/>
          </a:prstGeom>
          <a:noFill/>
        </p:spPr>
        <p:txBody>
          <a:bodyPr wrap="square">
            <a:spAutoFit/>
          </a:bodyPr>
          <a:lstStyle/>
          <a:p>
            <a:pPr algn="ctr">
              <a:defRPr sz="1300" b="1">
                <a:solidFill>
                  <a:srgbClr val="27A46F"/>
                </a:solidFill>
              </a:defRPr>
            </a:pPr>
            <a:r>
              <a:t>✅ Saved: ₹200 → Food</a:t>
            </a:r>
          </a:p>
        </p:txBody>
      </p:sp>
      <p:sp>
        <p:nvSpPr>
          <p:cNvPr id="21" name="Rounded Rectangle 20"/>
          <p:cNvSpPr/>
          <p:nvPr/>
        </p:nvSpPr>
        <p:spPr>
          <a:xfrm>
            <a:off x="822960" y="5166360"/>
            <a:ext cx="10469880" cy="77724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321808"/>
            <a:ext cx="10012680" cy="457200"/>
          </a:xfrm>
          <a:prstGeom prst="rect">
            <a:avLst/>
          </a:prstGeom>
          <a:noFill/>
        </p:spPr>
        <p:txBody>
          <a:bodyPr wrap="square">
            <a:spAutoFit/>
          </a:bodyPr>
          <a:lstStyle/>
          <a:p>
            <a:pPr algn="ctr">
              <a:defRPr sz="1100" b="1">
                <a:solidFill>
                  <a:srgbClr val="343A4E"/>
                </a:solidFill>
              </a:defRPr>
            </a:pPr>
            <a:r>
              <a:t>🔒 The app only uses the required transaction details for expense tracking. It does NOT control the bank account or payment, and it does NOT need UPI PIN, OTP or bank password.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Future Scope</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Simple improvements we can add later</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13</a:t>
            </a:r>
          </a:p>
        </p:txBody>
      </p:sp>
      <p:sp>
        <p:nvSpPr>
          <p:cNvPr id="6" name="Rectangle 5"/>
          <p:cNvSpPr/>
          <p:nvPr/>
        </p:nvSpPr>
        <p:spPr>
          <a:xfrm>
            <a:off x="594360" y="1371600"/>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536192"/>
            <a:ext cx="4855464" cy="274320"/>
          </a:xfrm>
          <a:prstGeom prst="rect">
            <a:avLst/>
          </a:prstGeom>
          <a:noFill/>
        </p:spPr>
        <p:txBody>
          <a:bodyPr wrap="square">
            <a:spAutoFit/>
          </a:bodyPr>
          <a:lstStyle/>
          <a:p>
            <a:pPr algn="l">
              <a:defRPr sz="1400" b="1">
                <a:solidFill>
                  <a:srgbClr val="5B43BE"/>
                </a:solidFill>
              </a:defRPr>
            </a:pPr>
            <a:r>
              <a:t>1. Better Auto Detection</a:t>
            </a:r>
          </a:p>
        </p:txBody>
      </p:sp>
      <p:sp>
        <p:nvSpPr>
          <p:cNvPr id="8" name="TextBox 7"/>
          <p:cNvSpPr txBox="1"/>
          <p:nvPr/>
        </p:nvSpPr>
        <p:spPr>
          <a:xfrm>
            <a:off x="795528" y="1938528"/>
            <a:ext cx="4855464" cy="612647"/>
          </a:xfrm>
          <a:prstGeom prst="rect">
            <a:avLst/>
          </a:prstGeom>
          <a:noFill/>
        </p:spPr>
        <p:txBody>
          <a:bodyPr wrap="square">
            <a:spAutoFit/>
          </a:bodyPr>
          <a:lstStyle/>
          <a:p>
            <a:pPr algn="l">
              <a:defRPr sz="1100" b="0">
                <a:solidFill>
                  <a:srgbClr val="343A4E"/>
                </a:solidFill>
              </a:defRPr>
            </a:pPr>
            <a:r>
              <a:t>More payment apps can be supported so more expenses are detected automatically.</a:t>
            </a:r>
          </a:p>
        </p:txBody>
      </p:sp>
      <p:sp>
        <p:nvSpPr>
          <p:cNvPr id="9" name="Rectangle 8"/>
          <p:cNvSpPr/>
          <p:nvPr/>
        </p:nvSpPr>
        <p:spPr>
          <a:xfrm>
            <a:off x="6217920" y="1371600"/>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536192"/>
            <a:ext cx="4855464" cy="274320"/>
          </a:xfrm>
          <a:prstGeom prst="rect">
            <a:avLst/>
          </a:prstGeom>
          <a:noFill/>
        </p:spPr>
        <p:txBody>
          <a:bodyPr wrap="square">
            <a:spAutoFit/>
          </a:bodyPr>
          <a:lstStyle/>
          <a:p>
            <a:pPr algn="l">
              <a:defRPr sz="1400" b="1">
                <a:solidFill>
                  <a:srgbClr val="5B43BE"/>
                </a:solidFill>
              </a:defRPr>
            </a:pPr>
            <a:r>
              <a:t>2. Better Category Suggestion</a:t>
            </a:r>
          </a:p>
        </p:txBody>
      </p:sp>
      <p:sp>
        <p:nvSpPr>
          <p:cNvPr id="11" name="TextBox 10"/>
          <p:cNvSpPr txBox="1"/>
          <p:nvPr/>
        </p:nvSpPr>
        <p:spPr>
          <a:xfrm>
            <a:off x="6419088" y="1938528"/>
            <a:ext cx="4855464" cy="612647"/>
          </a:xfrm>
          <a:prstGeom prst="rect">
            <a:avLst/>
          </a:prstGeom>
          <a:noFill/>
        </p:spPr>
        <p:txBody>
          <a:bodyPr wrap="square">
            <a:spAutoFit/>
          </a:bodyPr>
          <a:lstStyle/>
          <a:p>
            <a:pPr algn="l">
              <a:defRPr sz="1100" b="0">
                <a:solidFill>
                  <a:srgbClr val="343A4E"/>
                </a:solidFill>
              </a:defRPr>
            </a:pPr>
            <a:r>
              <a:t>The app can learn from the student's previous choices and suggest the right category.</a:t>
            </a:r>
          </a:p>
        </p:txBody>
      </p:sp>
      <p:sp>
        <p:nvSpPr>
          <p:cNvPr id="12" name="Rectangle 11"/>
          <p:cNvSpPr/>
          <p:nvPr/>
        </p:nvSpPr>
        <p:spPr>
          <a:xfrm>
            <a:off x="594360" y="2944368"/>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108960"/>
            <a:ext cx="4855464" cy="274320"/>
          </a:xfrm>
          <a:prstGeom prst="rect">
            <a:avLst/>
          </a:prstGeom>
          <a:noFill/>
        </p:spPr>
        <p:txBody>
          <a:bodyPr wrap="square">
            <a:spAutoFit/>
          </a:bodyPr>
          <a:lstStyle/>
          <a:p>
            <a:pPr algn="l">
              <a:defRPr sz="1400" b="1">
                <a:solidFill>
                  <a:srgbClr val="5B43BE"/>
                </a:solidFill>
              </a:defRPr>
            </a:pPr>
            <a:r>
              <a:t>3. Budget Alert</a:t>
            </a:r>
          </a:p>
        </p:txBody>
      </p:sp>
      <p:sp>
        <p:nvSpPr>
          <p:cNvPr id="14" name="TextBox 13"/>
          <p:cNvSpPr txBox="1"/>
          <p:nvPr/>
        </p:nvSpPr>
        <p:spPr>
          <a:xfrm>
            <a:off x="795528" y="3511296"/>
            <a:ext cx="4855464" cy="612647"/>
          </a:xfrm>
          <a:prstGeom prst="rect">
            <a:avLst/>
          </a:prstGeom>
          <a:noFill/>
        </p:spPr>
        <p:txBody>
          <a:bodyPr wrap="square">
            <a:spAutoFit/>
          </a:bodyPr>
          <a:lstStyle/>
          <a:p>
            <a:pPr algn="l">
              <a:defRPr sz="1100" b="0">
                <a:solidFill>
                  <a:srgbClr val="343A4E"/>
                </a:solidFill>
              </a:defRPr>
            </a:pPr>
            <a:r>
              <a:t>If spending becomes too high, the app can show a simple warning.</a:t>
            </a:r>
          </a:p>
        </p:txBody>
      </p:sp>
      <p:sp>
        <p:nvSpPr>
          <p:cNvPr id="15" name="Rectangle 14"/>
          <p:cNvSpPr/>
          <p:nvPr/>
        </p:nvSpPr>
        <p:spPr>
          <a:xfrm>
            <a:off x="6217920" y="2944368"/>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3108960"/>
            <a:ext cx="4855464" cy="274320"/>
          </a:xfrm>
          <a:prstGeom prst="rect">
            <a:avLst/>
          </a:prstGeom>
          <a:noFill/>
        </p:spPr>
        <p:txBody>
          <a:bodyPr wrap="square">
            <a:spAutoFit/>
          </a:bodyPr>
          <a:lstStyle/>
          <a:p>
            <a:pPr algn="l">
              <a:defRPr sz="1400" b="1">
                <a:solidFill>
                  <a:srgbClr val="5B43BE"/>
                </a:solidFill>
              </a:defRPr>
            </a:pPr>
            <a:r>
              <a:t>4. Monthly Report</a:t>
            </a:r>
          </a:p>
        </p:txBody>
      </p:sp>
      <p:sp>
        <p:nvSpPr>
          <p:cNvPr id="17" name="TextBox 16"/>
          <p:cNvSpPr txBox="1"/>
          <p:nvPr/>
        </p:nvSpPr>
        <p:spPr>
          <a:xfrm>
            <a:off x="6419088" y="3511296"/>
            <a:ext cx="4855464" cy="612647"/>
          </a:xfrm>
          <a:prstGeom prst="rect">
            <a:avLst/>
          </a:prstGeom>
          <a:noFill/>
        </p:spPr>
        <p:txBody>
          <a:bodyPr wrap="square">
            <a:spAutoFit/>
          </a:bodyPr>
          <a:lstStyle/>
          <a:p>
            <a:pPr algn="l">
              <a:defRPr sz="1100" b="0">
                <a:solidFill>
                  <a:srgbClr val="343A4E"/>
                </a:solidFill>
              </a:defRPr>
            </a:pPr>
            <a:r>
              <a:t>At the end of the month, the app can show a simple report of total spending.</a:t>
            </a:r>
          </a:p>
        </p:txBody>
      </p:sp>
      <p:sp>
        <p:nvSpPr>
          <p:cNvPr id="18" name="Rectangle 17"/>
          <p:cNvSpPr/>
          <p:nvPr/>
        </p:nvSpPr>
        <p:spPr>
          <a:xfrm>
            <a:off x="594360" y="4517136"/>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681727"/>
            <a:ext cx="4855464" cy="274320"/>
          </a:xfrm>
          <a:prstGeom prst="rect">
            <a:avLst/>
          </a:prstGeom>
          <a:noFill/>
        </p:spPr>
        <p:txBody>
          <a:bodyPr wrap="square">
            <a:spAutoFit/>
          </a:bodyPr>
          <a:lstStyle/>
          <a:p>
            <a:pPr algn="l">
              <a:defRPr sz="1400" b="1">
                <a:solidFill>
                  <a:srgbClr val="5B43BE"/>
                </a:solidFill>
              </a:defRPr>
            </a:pPr>
            <a:r>
              <a:t>5. Backup</a:t>
            </a:r>
          </a:p>
        </p:txBody>
      </p:sp>
      <p:sp>
        <p:nvSpPr>
          <p:cNvPr id="20" name="TextBox 19"/>
          <p:cNvSpPr txBox="1"/>
          <p:nvPr/>
        </p:nvSpPr>
        <p:spPr>
          <a:xfrm>
            <a:off x="795528" y="5084064"/>
            <a:ext cx="4855464" cy="612647"/>
          </a:xfrm>
          <a:prstGeom prst="rect">
            <a:avLst/>
          </a:prstGeom>
          <a:noFill/>
        </p:spPr>
        <p:txBody>
          <a:bodyPr wrap="square">
            <a:spAutoFit/>
          </a:bodyPr>
          <a:lstStyle/>
          <a:p>
            <a:pPr algn="l">
              <a:defRPr sz="1100" b="0">
                <a:solidFill>
                  <a:srgbClr val="343A4E"/>
                </a:solidFill>
              </a:defRPr>
            </a:pPr>
            <a:r>
              <a:t>Expenses can be backed up so they are not lost if the phone changes.</a:t>
            </a:r>
          </a:p>
        </p:txBody>
      </p:sp>
      <p:sp>
        <p:nvSpPr>
          <p:cNvPr id="21" name="Rectangle 20"/>
          <p:cNvSpPr/>
          <p:nvPr/>
        </p:nvSpPr>
        <p:spPr>
          <a:xfrm>
            <a:off x="6217920" y="4517136"/>
            <a:ext cx="5257800" cy="1298448"/>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4681727"/>
            <a:ext cx="4855464" cy="274320"/>
          </a:xfrm>
          <a:prstGeom prst="rect">
            <a:avLst/>
          </a:prstGeom>
          <a:noFill/>
        </p:spPr>
        <p:txBody>
          <a:bodyPr wrap="square">
            <a:spAutoFit/>
          </a:bodyPr>
          <a:lstStyle/>
          <a:p>
            <a:pPr algn="l">
              <a:defRPr sz="1400" b="1">
                <a:solidFill>
                  <a:srgbClr val="5B43BE"/>
                </a:solidFill>
              </a:defRPr>
            </a:pPr>
            <a:r>
              <a:t>6. Voice Add Expense</a:t>
            </a:r>
          </a:p>
        </p:txBody>
      </p:sp>
      <p:sp>
        <p:nvSpPr>
          <p:cNvPr id="23" name="TextBox 22"/>
          <p:cNvSpPr txBox="1"/>
          <p:nvPr/>
        </p:nvSpPr>
        <p:spPr>
          <a:xfrm>
            <a:off x="6419088" y="5084064"/>
            <a:ext cx="4855464" cy="612647"/>
          </a:xfrm>
          <a:prstGeom prst="rect">
            <a:avLst/>
          </a:prstGeom>
          <a:noFill/>
        </p:spPr>
        <p:txBody>
          <a:bodyPr wrap="square">
            <a:spAutoFit/>
          </a:bodyPr>
          <a:lstStyle/>
          <a:p>
            <a:pPr algn="l">
              <a:defRPr sz="1100" b="0">
                <a:solidFill>
                  <a:srgbClr val="343A4E"/>
                </a:solidFill>
              </a:defRPr>
            </a:pPr>
            <a:r>
              <a:t>Student can say “Food 100 rupees” and the app can add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Conclusion</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Easy way to explain the project in the presentation</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14</a:t>
            </a:r>
          </a:p>
        </p:txBody>
      </p:sp>
      <p:sp>
        <p:nvSpPr>
          <p:cNvPr id="6" name="Rectangle 5"/>
          <p:cNvSpPr/>
          <p:nvPr/>
        </p:nvSpPr>
        <p:spPr>
          <a:xfrm>
            <a:off x="914400" y="1417320"/>
            <a:ext cx="10241280" cy="1234440"/>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1581912"/>
            <a:ext cx="9838944" cy="274320"/>
          </a:xfrm>
          <a:prstGeom prst="rect">
            <a:avLst/>
          </a:prstGeom>
          <a:noFill/>
        </p:spPr>
        <p:txBody>
          <a:bodyPr wrap="square">
            <a:spAutoFit/>
          </a:bodyPr>
          <a:lstStyle/>
          <a:p>
            <a:pPr algn="l">
              <a:defRPr sz="1400" b="1">
                <a:solidFill>
                  <a:srgbClr val="5B43BE"/>
                </a:solidFill>
              </a:defRPr>
            </a:pPr>
            <a:r>
              <a:t>What our app does</a:t>
            </a:r>
          </a:p>
        </p:txBody>
      </p:sp>
      <p:sp>
        <p:nvSpPr>
          <p:cNvPr id="8" name="TextBox 7"/>
          <p:cNvSpPr txBox="1"/>
          <p:nvPr/>
        </p:nvSpPr>
        <p:spPr>
          <a:xfrm>
            <a:off x="1115568" y="1984248"/>
            <a:ext cx="9838944" cy="548640"/>
          </a:xfrm>
          <a:prstGeom prst="rect">
            <a:avLst/>
          </a:prstGeom>
          <a:noFill/>
        </p:spPr>
        <p:txBody>
          <a:bodyPr wrap="square">
            <a:spAutoFit/>
          </a:bodyPr>
          <a:lstStyle/>
          <a:p>
            <a:pPr algn="l">
              <a:defRPr sz="1100" b="0">
                <a:solidFill>
                  <a:srgbClr val="343A4E"/>
                </a:solidFill>
              </a:defRPr>
            </a:pPr>
            <a:r>
              <a:t>It tracks student expenses, detects supported payment notifications, asks the user to choose a category when needed, and shows where the money was spent.</a:t>
            </a:r>
          </a:p>
        </p:txBody>
      </p:sp>
      <p:sp>
        <p:nvSpPr>
          <p:cNvPr id="9" name="Rectangle 8"/>
          <p:cNvSpPr/>
          <p:nvPr/>
        </p:nvSpPr>
        <p:spPr>
          <a:xfrm>
            <a:off x="914400" y="2834640"/>
            <a:ext cx="10241280" cy="1234440"/>
          </a:xfrm>
          <a:prstGeom prst="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999232"/>
            <a:ext cx="9838944" cy="274320"/>
          </a:xfrm>
          <a:prstGeom prst="rect">
            <a:avLst/>
          </a:prstGeom>
          <a:noFill/>
        </p:spPr>
        <p:txBody>
          <a:bodyPr wrap="square">
            <a:spAutoFit/>
          </a:bodyPr>
          <a:lstStyle/>
          <a:p>
            <a:pPr algn="l">
              <a:defRPr sz="1400" b="1">
                <a:solidFill>
                  <a:srgbClr val="5B43BE"/>
                </a:solidFill>
              </a:defRPr>
            </a:pPr>
            <a:r>
              <a:t>Why it is useful</a:t>
            </a:r>
          </a:p>
        </p:txBody>
      </p:sp>
      <p:sp>
        <p:nvSpPr>
          <p:cNvPr id="11" name="TextBox 10"/>
          <p:cNvSpPr txBox="1"/>
          <p:nvPr/>
        </p:nvSpPr>
        <p:spPr>
          <a:xfrm>
            <a:off x="1115568" y="3401568"/>
            <a:ext cx="9838944" cy="548640"/>
          </a:xfrm>
          <a:prstGeom prst="rect">
            <a:avLst/>
          </a:prstGeom>
          <a:noFill/>
        </p:spPr>
        <p:txBody>
          <a:bodyPr wrap="square">
            <a:spAutoFit/>
          </a:bodyPr>
          <a:lstStyle/>
          <a:p>
            <a:pPr algn="l">
              <a:defRPr sz="1100" b="0">
                <a:solidFill>
                  <a:srgbClr val="343A4E"/>
                </a:solidFill>
              </a:defRPr>
            </a:pPr>
            <a:r>
              <a:t>Students can see total spending, category-wise spending and remaining budget in one place.</a:t>
            </a:r>
          </a:p>
        </p:txBody>
      </p:sp>
      <p:sp>
        <p:nvSpPr>
          <p:cNvPr id="12" name="TextBox 11"/>
          <p:cNvSpPr txBox="1"/>
          <p:nvPr/>
        </p:nvSpPr>
        <p:spPr>
          <a:xfrm>
            <a:off x="914400" y="4434840"/>
            <a:ext cx="10241280" cy="502920"/>
          </a:xfrm>
          <a:prstGeom prst="rect">
            <a:avLst/>
          </a:prstGeom>
          <a:noFill/>
        </p:spPr>
        <p:txBody>
          <a:bodyPr wrap="square">
            <a:spAutoFit/>
          </a:bodyPr>
          <a:lstStyle/>
          <a:p>
            <a:pPr algn="ctr">
              <a:defRPr sz="1900" b="1">
                <a:solidFill>
                  <a:srgbClr val="5B43BE"/>
                </a:solidFill>
              </a:defRPr>
            </a:pPr>
            <a:r>
              <a:t>“The main aim is to help students understand where their money is going and manage it better.”</a:t>
            </a:r>
          </a:p>
        </p:txBody>
      </p:sp>
      <p:sp>
        <p:nvSpPr>
          <p:cNvPr id="13" name="TextBox 12"/>
          <p:cNvSpPr txBox="1"/>
          <p:nvPr/>
        </p:nvSpPr>
        <p:spPr>
          <a:xfrm>
            <a:off x="914400" y="5532120"/>
            <a:ext cx="10241280" cy="365760"/>
          </a:xfrm>
          <a:prstGeom prst="rect">
            <a:avLst/>
          </a:prstGeom>
          <a:noFill/>
        </p:spPr>
        <p:txBody>
          <a:bodyPr wrap="square">
            <a:spAutoFit/>
          </a:bodyPr>
          <a:lstStyle/>
          <a:p>
            <a:pPr algn="ctr">
              <a:defRPr sz="2200" b="1">
                <a:solidFill>
                  <a:srgbClr val="191E37"/>
                </a:solidFill>
              </a:defRPr>
            </a:pPr>
            <a:r>
              <a:t>Thank You • Questions &amp; Answers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5B4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457200"/>
          </a:xfrm>
          <a:prstGeom prst="rect">
            <a:avLst/>
          </a:prstGeom>
          <a:noFill/>
        </p:spPr>
        <p:txBody>
          <a:bodyPr wrap="square">
            <a:spAutoFit/>
          </a:bodyPr>
          <a:lstStyle/>
          <a:p>
            <a:pPr algn="l">
              <a:defRPr sz="2800" b="1">
                <a:solidFill>
                  <a:srgbClr val="191E37"/>
                </a:solidFill>
              </a:defRPr>
            </a:pPr>
            <a:r>
              <a:t>What Our App Can Read &amp; Cannot Read</a:t>
            </a:r>
          </a:p>
        </p:txBody>
      </p:sp>
      <p:sp>
        <p:nvSpPr>
          <p:cNvPr id="4" name="TextBox 3"/>
          <p:cNvSpPr txBox="1"/>
          <p:nvPr/>
        </p:nvSpPr>
        <p:spPr>
          <a:xfrm>
            <a:off x="621792" y="914400"/>
            <a:ext cx="10698480" cy="320040"/>
          </a:xfrm>
          <a:prstGeom prst="rect">
            <a:avLst/>
          </a:prstGeom>
          <a:noFill/>
        </p:spPr>
        <p:txBody>
          <a:bodyPr wrap="square">
            <a:spAutoFit/>
          </a:bodyPr>
          <a:lstStyle/>
          <a:p>
            <a:pPr algn="l">
              <a:defRPr sz="1200" b="0">
                <a:solidFill>
                  <a:srgbClr val="6E768A"/>
                </a:solidFill>
              </a:defRPr>
            </a:pPr>
            <a:r>
              <a:t>For privacy, the app uses only relevant transaction messages.</a:t>
            </a:r>
          </a:p>
        </p:txBody>
      </p:sp>
      <p:sp>
        <p:nvSpPr>
          <p:cNvPr id="5" name="TextBox 4"/>
          <p:cNvSpPr txBox="1"/>
          <p:nvPr/>
        </p:nvSpPr>
        <p:spPr>
          <a:xfrm>
            <a:off x="11064240" y="6446520"/>
            <a:ext cx="457200" cy="182880"/>
          </a:xfrm>
          <a:prstGeom prst="rect">
            <a:avLst/>
          </a:prstGeom>
          <a:noFill/>
        </p:spPr>
        <p:txBody>
          <a:bodyPr wrap="square">
            <a:spAutoFit/>
          </a:bodyPr>
          <a:lstStyle/>
          <a:p>
            <a:pPr algn="r">
              <a:defRPr sz="1000" b="0">
                <a:solidFill>
                  <a:srgbClr val="6E768A"/>
                </a:solidFill>
              </a:defRPr>
            </a:pPr>
            <a:r>
              <a:t>13</a:t>
            </a:r>
          </a:p>
        </p:txBody>
      </p:sp>
      <p:sp>
        <p:nvSpPr>
          <p:cNvPr id="6" name="Rounded Rectangle 5"/>
          <p:cNvSpPr/>
          <p:nvPr/>
        </p:nvSpPr>
        <p:spPr>
          <a:xfrm>
            <a:off x="640080" y="1417320"/>
            <a:ext cx="5257800" cy="4251960"/>
          </a:xfrm>
          <a:prstGeom prst="roundRect">
            <a:avLst/>
          </a:prstGeom>
          <a:solidFill>
            <a:srgbClr val="FFFFFF"/>
          </a:solidFill>
          <a:ln>
            <a:solidFill>
              <a:srgbClr val="E0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4663440" cy="365760"/>
          </a:xfrm>
          <a:prstGeom prst="rect">
            <a:avLst/>
          </a:prstGeom>
          <a:noFill/>
        </p:spPr>
        <p:txBody>
          <a:bodyPr wrap="square">
            <a:spAutoFit/>
          </a:bodyPr>
          <a:lstStyle/>
          <a:p>
            <a:pPr algn="l">
              <a:defRPr sz="2000" b="1">
                <a:solidFill>
                  <a:srgbClr val="27A46F"/>
                </a:solidFill>
              </a:defRPr>
            </a:pPr>
            <a:r>
              <a:t>✅ CAN READ</a:t>
            </a:r>
          </a:p>
        </p:txBody>
      </p:sp>
      <p:sp>
        <p:nvSpPr>
          <p:cNvPr id="8" name="TextBox 7"/>
          <p:cNvSpPr txBox="1"/>
          <p:nvPr/>
        </p:nvSpPr>
        <p:spPr>
          <a:xfrm>
            <a:off x="960120" y="2331720"/>
            <a:ext cx="4572000" cy="411480"/>
          </a:xfrm>
          <a:prstGeom prst="rect">
            <a:avLst/>
          </a:prstGeom>
          <a:noFill/>
        </p:spPr>
        <p:txBody>
          <a:bodyPr wrap="square">
            <a:spAutoFit/>
          </a:bodyPr>
          <a:lstStyle/>
          <a:p>
            <a:pPr algn="l">
              <a:defRPr sz="1400" b="0">
                <a:solidFill>
                  <a:srgbClr val="343A4E"/>
                </a:solidFill>
              </a:defRPr>
            </a:pPr>
            <a:r>
              <a:t>🏦 Relevant bank transaction SMS / notification</a:t>
            </a:r>
          </a:p>
        </p:txBody>
      </p:sp>
      <p:sp>
        <p:nvSpPr>
          <p:cNvPr id="9" name="TextBox 8"/>
          <p:cNvSpPr txBox="1"/>
          <p:nvPr/>
        </p:nvSpPr>
        <p:spPr>
          <a:xfrm>
            <a:off x="960120" y="2990087"/>
            <a:ext cx="4572000" cy="411480"/>
          </a:xfrm>
          <a:prstGeom prst="rect">
            <a:avLst/>
          </a:prstGeom>
          <a:noFill/>
        </p:spPr>
        <p:txBody>
          <a:bodyPr wrap="square">
            <a:spAutoFit/>
          </a:bodyPr>
          <a:lstStyle/>
          <a:p>
            <a:pPr algn="l">
              <a:defRPr sz="1400" b="0">
                <a:solidFill>
                  <a:srgbClr val="343A4E"/>
                </a:solidFill>
              </a:defRPr>
            </a:pPr>
            <a:r>
              <a:t>💰 Debit amount</a:t>
            </a:r>
          </a:p>
        </p:txBody>
      </p:sp>
      <p:sp>
        <p:nvSpPr>
          <p:cNvPr id="10" name="TextBox 9"/>
          <p:cNvSpPr txBox="1"/>
          <p:nvPr/>
        </p:nvSpPr>
        <p:spPr>
          <a:xfrm>
            <a:off x="960120" y="3648456"/>
            <a:ext cx="4572000" cy="411480"/>
          </a:xfrm>
          <a:prstGeom prst="rect">
            <a:avLst/>
          </a:prstGeom>
          <a:noFill/>
        </p:spPr>
        <p:txBody>
          <a:bodyPr wrap="square">
            <a:spAutoFit/>
          </a:bodyPr>
          <a:lstStyle/>
          <a:p>
            <a:pPr algn="l">
              <a:defRPr sz="1400" b="0">
                <a:solidFill>
                  <a:srgbClr val="343A4E"/>
                </a:solidFill>
              </a:defRPr>
            </a:pPr>
            <a:r>
              <a:t>👤 Available payee / merchant name</a:t>
            </a:r>
          </a:p>
        </p:txBody>
      </p:sp>
      <p:sp>
        <p:nvSpPr>
          <p:cNvPr id="11" name="TextBox 10"/>
          <p:cNvSpPr txBox="1"/>
          <p:nvPr/>
        </p:nvSpPr>
        <p:spPr>
          <a:xfrm>
            <a:off x="960120" y="4306824"/>
            <a:ext cx="4572000" cy="411480"/>
          </a:xfrm>
          <a:prstGeom prst="rect">
            <a:avLst/>
          </a:prstGeom>
          <a:noFill/>
        </p:spPr>
        <p:txBody>
          <a:bodyPr wrap="square">
            <a:spAutoFit/>
          </a:bodyPr>
          <a:lstStyle/>
          <a:p>
            <a:pPr algn="l">
              <a:defRPr sz="1400" b="0">
                <a:solidFill>
                  <a:srgbClr val="343A4E"/>
                </a:solidFill>
              </a:defRPr>
            </a:pPr>
            <a:r>
              <a:t>📅 Date &amp; time, if present in the message</a:t>
            </a:r>
          </a:p>
        </p:txBody>
      </p:sp>
      <p:sp>
        <p:nvSpPr>
          <p:cNvPr id="12" name="Rounded Rectangle 11"/>
          <p:cNvSpPr/>
          <p:nvPr/>
        </p:nvSpPr>
        <p:spPr>
          <a:xfrm>
            <a:off x="6263640" y="1417320"/>
            <a:ext cx="5257800" cy="4251960"/>
          </a:xfrm>
          <a:prstGeom prst="roundRect">
            <a:avLst/>
          </a:prstGeom>
          <a:solidFill>
            <a:srgbClr val="FFF2E8"/>
          </a:solidFill>
          <a:ln>
            <a:solidFill>
              <a:srgbClr val="F5D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691640"/>
            <a:ext cx="4663440" cy="365760"/>
          </a:xfrm>
          <a:prstGeom prst="rect">
            <a:avLst/>
          </a:prstGeom>
          <a:noFill/>
        </p:spPr>
        <p:txBody>
          <a:bodyPr wrap="square">
            <a:spAutoFit/>
          </a:bodyPr>
          <a:lstStyle/>
          <a:p>
            <a:pPr algn="l">
              <a:defRPr sz="2000" b="1">
                <a:solidFill>
                  <a:srgbClr val="D74B55"/>
                </a:solidFill>
              </a:defRPr>
            </a:pPr>
            <a:r>
              <a:t>❌ CANNOT / DOES NOT ACCESS</a:t>
            </a:r>
          </a:p>
        </p:txBody>
      </p:sp>
      <p:sp>
        <p:nvSpPr>
          <p:cNvPr id="14" name="TextBox 13"/>
          <p:cNvSpPr txBox="1"/>
          <p:nvPr/>
        </p:nvSpPr>
        <p:spPr>
          <a:xfrm>
            <a:off x="6537960" y="2240280"/>
            <a:ext cx="4572000" cy="365760"/>
          </a:xfrm>
          <a:prstGeom prst="rect">
            <a:avLst/>
          </a:prstGeom>
          <a:noFill/>
        </p:spPr>
        <p:txBody>
          <a:bodyPr wrap="square">
            <a:spAutoFit/>
          </a:bodyPr>
          <a:lstStyle/>
          <a:p>
            <a:pPr algn="l">
              <a:defRPr sz="1300" b="0">
                <a:solidFill>
                  <a:srgbClr val="343A4E"/>
                </a:solidFill>
              </a:defRPr>
            </a:pPr>
            <a:r>
              <a:t>💳 Bank account control</a:t>
            </a:r>
          </a:p>
        </p:txBody>
      </p:sp>
      <p:sp>
        <p:nvSpPr>
          <p:cNvPr id="15" name="TextBox 14"/>
          <p:cNvSpPr txBox="1"/>
          <p:nvPr/>
        </p:nvSpPr>
        <p:spPr>
          <a:xfrm>
            <a:off x="6537960" y="2752344"/>
            <a:ext cx="4572000" cy="365760"/>
          </a:xfrm>
          <a:prstGeom prst="rect">
            <a:avLst/>
          </a:prstGeom>
          <a:noFill/>
        </p:spPr>
        <p:txBody>
          <a:bodyPr wrap="square">
            <a:spAutoFit/>
          </a:bodyPr>
          <a:lstStyle/>
          <a:p>
            <a:pPr algn="l">
              <a:defRPr sz="1300" b="0">
                <a:solidFill>
                  <a:srgbClr val="343A4E"/>
                </a:solidFill>
              </a:defRPr>
            </a:pPr>
            <a:r>
              <a:t>🔑 UPI PIN</a:t>
            </a:r>
          </a:p>
        </p:txBody>
      </p:sp>
      <p:sp>
        <p:nvSpPr>
          <p:cNvPr id="16" name="TextBox 15"/>
          <p:cNvSpPr txBox="1"/>
          <p:nvPr/>
        </p:nvSpPr>
        <p:spPr>
          <a:xfrm>
            <a:off x="6537960" y="3264408"/>
            <a:ext cx="4572000" cy="365760"/>
          </a:xfrm>
          <a:prstGeom prst="rect">
            <a:avLst/>
          </a:prstGeom>
          <a:noFill/>
        </p:spPr>
        <p:txBody>
          <a:bodyPr wrap="square">
            <a:spAutoFit/>
          </a:bodyPr>
          <a:lstStyle/>
          <a:p>
            <a:pPr algn="l">
              <a:defRPr sz="1300" b="0">
                <a:solidFill>
                  <a:srgbClr val="343A4E"/>
                </a:solidFill>
              </a:defRPr>
            </a:pPr>
            <a:r>
              <a:t>🔐 OTP or bank password</a:t>
            </a:r>
          </a:p>
        </p:txBody>
      </p:sp>
      <p:sp>
        <p:nvSpPr>
          <p:cNvPr id="17" name="TextBox 16"/>
          <p:cNvSpPr txBox="1"/>
          <p:nvPr/>
        </p:nvSpPr>
        <p:spPr>
          <a:xfrm>
            <a:off x="6537960" y="3776472"/>
            <a:ext cx="4572000" cy="365760"/>
          </a:xfrm>
          <a:prstGeom prst="rect">
            <a:avLst/>
          </a:prstGeom>
          <a:noFill/>
        </p:spPr>
        <p:txBody>
          <a:bodyPr wrap="square">
            <a:spAutoFit/>
          </a:bodyPr>
          <a:lstStyle/>
          <a:p>
            <a:pPr algn="l">
              <a:defRPr sz="1300" b="0">
                <a:solidFill>
                  <a:srgbClr val="343A4E"/>
                </a:solidFill>
              </a:defRPr>
            </a:pPr>
            <a:r>
              <a:t>💸 Transfer or spend money</a:t>
            </a:r>
          </a:p>
        </p:txBody>
      </p:sp>
      <p:sp>
        <p:nvSpPr>
          <p:cNvPr id="18" name="TextBox 17"/>
          <p:cNvSpPr txBox="1"/>
          <p:nvPr/>
        </p:nvSpPr>
        <p:spPr>
          <a:xfrm>
            <a:off x="6537960" y="4288536"/>
            <a:ext cx="4572000" cy="365760"/>
          </a:xfrm>
          <a:prstGeom prst="rect">
            <a:avLst/>
          </a:prstGeom>
          <a:noFill/>
        </p:spPr>
        <p:txBody>
          <a:bodyPr wrap="square">
            <a:spAutoFit/>
          </a:bodyPr>
          <a:lstStyle/>
          <a:p>
            <a:pPr algn="l">
              <a:defRPr sz="1300" b="0">
                <a:solidFill>
                  <a:srgbClr val="343A4E"/>
                </a:solidFill>
              </a:defRPr>
            </a:pPr>
            <a:r>
              <a:t>📱 PhonePe account details</a:t>
            </a:r>
          </a:p>
        </p:txBody>
      </p:sp>
      <p:sp>
        <p:nvSpPr>
          <p:cNvPr id="19" name="TextBox 18"/>
          <p:cNvSpPr txBox="1"/>
          <p:nvPr/>
        </p:nvSpPr>
        <p:spPr>
          <a:xfrm>
            <a:off x="6537960" y="4800600"/>
            <a:ext cx="4572000" cy="365760"/>
          </a:xfrm>
          <a:prstGeom prst="rect">
            <a:avLst/>
          </a:prstGeom>
          <a:noFill/>
        </p:spPr>
        <p:txBody>
          <a:bodyPr wrap="square">
            <a:spAutoFit/>
          </a:bodyPr>
          <a:lstStyle/>
          <a:p>
            <a:pPr algn="l">
              <a:defRPr sz="1300" b="0">
                <a:solidFill>
                  <a:srgbClr val="343A4E"/>
                </a:solidFill>
              </a:defRPr>
            </a:pPr>
            <a:r>
              <a:t>💬 Other personal messages</a:t>
            </a:r>
          </a:p>
        </p:txBody>
      </p:sp>
      <p:sp>
        <p:nvSpPr>
          <p:cNvPr id="20" name="Rounded Rectangle 19"/>
          <p:cNvSpPr/>
          <p:nvPr/>
        </p:nvSpPr>
        <p:spPr>
          <a:xfrm>
            <a:off x="1005840" y="5806440"/>
            <a:ext cx="10149840" cy="566928"/>
          </a:xfrm>
          <a:prstGeom prst="roundRect">
            <a:avLst/>
          </a:prstGeom>
          <a:solidFill>
            <a:srgbClr val="EFEBFF"/>
          </a:solidFill>
          <a:ln>
            <a:solidFill>
              <a:srgbClr val="EF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961888"/>
            <a:ext cx="9784080" cy="201168"/>
          </a:xfrm>
          <a:prstGeom prst="rect">
            <a:avLst/>
          </a:prstGeom>
          <a:noFill/>
        </p:spPr>
        <p:txBody>
          <a:bodyPr wrap="square">
            <a:spAutoFit/>
          </a:bodyPr>
          <a:lstStyle/>
          <a:p>
            <a:pPr algn="ctr">
              <a:defRPr sz="1150" b="1">
                <a:solidFill>
                  <a:srgbClr val="5B43BE"/>
                </a:solidFill>
              </a:defRPr>
            </a:pPr>
            <a:r>
              <a:t>“The app reads only the information needed from relevant transaction messages for expense tracking.”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